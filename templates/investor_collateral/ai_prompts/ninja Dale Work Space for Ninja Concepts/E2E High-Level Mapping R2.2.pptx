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.xml" ContentType="application/vnd.openxmlformats-officedocument.presentationml.notesSlide+xml"/>
  <Override PartName="/ppt/tags/tag12.xml" ContentType="application/vnd.openxmlformats-officedocument.presentationml.tags+xml"/>
  <Override PartName="/ppt/notesSlides/notesSlide2.xml" ContentType="application/vnd.openxmlformats-officedocument.presentationml.notesSlide+xml"/>
  <Override PartName="/ppt/tags/tag13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4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5229" r:id="rId4"/>
  </p:sldMasterIdLst>
  <p:notesMasterIdLst>
    <p:notesMasterId r:id="rId10"/>
  </p:notesMasterIdLst>
  <p:handoutMasterIdLst>
    <p:handoutMasterId r:id="rId11"/>
  </p:handoutMasterIdLst>
  <p:sldIdLst>
    <p:sldId id="1637155282" r:id="rId5"/>
    <p:sldId id="1637155322" r:id="rId6"/>
    <p:sldId id="1229" r:id="rId7"/>
    <p:sldId id="1230" r:id="rId8"/>
    <p:sldId id="1231" r:id="rId9"/>
  </p:sldIdLst>
  <p:sldSz cx="9144000" cy="5143500" type="screen16x9"/>
  <p:notesSz cx="7010400" cy="9296400"/>
  <p:custDataLst>
    <p:tags r:id="rId12"/>
  </p:custDataLst>
  <p:defaultTextStyle>
    <a:defPPr>
      <a:defRPr lang="en-US"/>
    </a:defPPr>
    <a:lvl1pPr algn="l" defTabSz="457064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HP Simplified" pitchFamily="34" charset="0"/>
        <a:ea typeface="+mn-ea"/>
        <a:cs typeface="Arial" pitchFamily="34" charset="0"/>
      </a:defRPr>
    </a:lvl1pPr>
    <a:lvl2pPr marL="457064" algn="l" defTabSz="457064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HP Simplified" pitchFamily="34" charset="0"/>
        <a:ea typeface="+mn-ea"/>
        <a:cs typeface="Arial" pitchFamily="34" charset="0"/>
      </a:defRPr>
    </a:lvl2pPr>
    <a:lvl3pPr marL="914140" algn="l" defTabSz="457064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HP Simplified" pitchFamily="34" charset="0"/>
        <a:ea typeface="+mn-ea"/>
        <a:cs typeface="Arial" pitchFamily="34" charset="0"/>
      </a:defRPr>
    </a:lvl3pPr>
    <a:lvl4pPr marL="1371206" algn="l" defTabSz="457064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HP Simplified" pitchFamily="34" charset="0"/>
        <a:ea typeface="+mn-ea"/>
        <a:cs typeface="Arial" pitchFamily="34" charset="0"/>
      </a:defRPr>
    </a:lvl4pPr>
    <a:lvl5pPr marL="1828277" algn="l" defTabSz="457064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HP Simplified" pitchFamily="34" charset="0"/>
        <a:ea typeface="+mn-ea"/>
        <a:cs typeface="Arial" pitchFamily="34" charset="0"/>
      </a:defRPr>
    </a:lvl5pPr>
    <a:lvl6pPr marL="2285341" algn="l" defTabSz="914140" rtl="0" eaLnBrk="1" latinLnBrk="0" hangingPunct="1">
      <a:defRPr kern="1200">
        <a:solidFill>
          <a:schemeClr val="tx1"/>
        </a:solidFill>
        <a:latin typeface="HP Simplified" pitchFamily="34" charset="0"/>
        <a:ea typeface="+mn-ea"/>
        <a:cs typeface="Arial" pitchFamily="34" charset="0"/>
      </a:defRPr>
    </a:lvl6pPr>
    <a:lvl7pPr marL="2742405" algn="l" defTabSz="914140" rtl="0" eaLnBrk="1" latinLnBrk="0" hangingPunct="1">
      <a:defRPr kern="1200">
        <a:solidFill>
          <a:schemeClr val="tx1"/>
        </a:solidFill>
        <a:latin typeface="HP Simplified" pitchFamily="34" charset="0"/>
        <a:ea typeface="+mn-ea"/>
        <a:cs typeface="Arial" pitchFamily="34" charset="0"/>
      </a:defRPr>
    </a:lvl7pPr>
    <a:lvl8pPr marL="3199475" algn="l" defTabSz="914140" rtl="0" eaLnBrk="1" latinLnBrk="0" hangingPunct="1">
      <a:defRPr kern="1200">
        <a:solidFill>
          <a:schemeClr val="tx1"/>
        </a:solidFill>
        <a:latin typeface="HP Simplified" pitchFamily="34" charset="0"/>
        <a:ea typeface="+mn-ea"/>
        <a:cs typeface="Arial" pitchFamily="34" charset="0"/>
      </a:defRPr>
    </a:lvl8pPr>
    <a:lvl9pPr marL="3656543" algn="l" defTabSz="914140" rtl="0" eaLnBrk="1" latinLnBrk="0" hangingPunct="1">
      <a:defRPr kern="1200">
        <a:solidFill>
          <a:schemeClr val="tx1"/>
        </a:solidFill>
        <a:latin typeface="HP Simplified" pitchFamily="34" charset="0"/>
        <a:ea typeface="+mn-ea"/>
        <a:cs typeface="Arial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E2E Mapping" id="{FFE0A224-92ED-447C-AFEE-09135372B512}">
          <p14:sldIdLst>
            <p14:sldId id="1637155282"/>
            <p14:sldId id="1637155322"/>
            <p14:sldId id="1229"/>
            <p14:sldId id="1230"/>
            <p14:sldId id="123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83" userDrawn="1">
          <p15:clr>
            <a:srgbClr val="A4A3A4"/>
          </p15:clr>
        </p15:guide>
        <p15:guide id="2" orient="horz" pos="743" userDrawn="1">
          <p15:clr>
            <a:srgbClr val="A4A3A4"/>
          </p15:clr>
        </p15:guide>
        <p15:guide id="3" orient="horz" pos="893" userDrawn="1">
          <p15:clr>
            <a:srgbClr val="A4A3A4"/>
          </p15:clr>
        </p15:guide>
        <p15:guide id="4" orient="horz" pos="438" userDrawn="1">
          <p15:clr>
            <a:srgbClr val="A4A3A4"/>
          </p15:clr>
        </p15:guide>
        <p15:guide id="5" orient="horz" pos="1671" userDrawn="1">
          <p15:clr>
            <a:srgbClr val="A4A3A4"/>
          </p15:clr>
        </p15:guide>
        <p15:guide id="6" orient="horz" pos="2236" userDrawn="1">
          <p15:clr>
            <a:srgbClr val="A4A3A4"/>
          </p15:clr>
        </p15:guide>
        <p15:guide id="7" orient="horz" pos="146" userDrawn="1">
          <p15:clr>
            <a:srgbClr val="A4A3A4"/>
          </p15:clr>
        </p15:guide>
        <p15:guide id="8" orient="horz" pos="2443" userDrawn="1">
          <p15:clr>
            <a:srgbClr val="A4A3A4"/>
          </p15:clr>
        </p15:guide>
        <p15:guide id="9" pos="1794" userDrawn="1">
          <p15:clr>
            <a:srgbClr val="A4A3A4"/>
          </p15:clr>
        </p15:guide>
        <p15:guide id="10" pos="2736" userDrawn="1">
          <p15:clr>
            <a:srgbClr val="A4A3A4"/>
          </p15:clr>
        </p15:guide>
        <p15:guide id="11" pos="202" userDrawn="1">
          <p15:clr>
            <a:srgbClr val="A4A3A4"/>
          </p15:clr>
        </p15:guide>
        <p15:guide id="12" pos="5322" userDrawn="1">
          <p15:clr>
            <a:srgbClr val="A4A3A4"/>
          </p15:clr>
        </p15:guide>
        <p15:guide id="13" pos="5625" userDrawn="1">
          <p15:clr>
            <a:srgbClr val="A4A3A4"/>
          </p15:clr>
        </p15:guide>
        <p15:guide id="14" pos="2878" userDrawn="1">
          <p15:clr>
            <a:srgbClr val="A4A3A4"/>
          </p15:clr>
        </p15:guide>
        <p15:guide id="15" pos="3555" userDrawn="1">
          <p15:clr>
            <a:srgbClr val="A4A3A4"/>
          </p15:clr>
        </p15:guide>
        <p15:guide id="16" pos="196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gen, Tara J" initials="ATJ" lastIdx="2" clrIdx="0"/>
  <p:cmAuthor id="2" name="Lin, Frances" initials="LF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6D6"/>
    <a:srgbClr val="8EA9DB"/>
    <a:srgbClr val="203764"/>
    <a:srgbClr val="305496"/>
    <a:srgbClr val="007CD0"/>
    <a:srgbClr val="B4C6E7"/>
    <a:srgbClr val="D9E1F2"/>
    <a:srgbClr val="005476"/>
    <a:srgbClr val="B9B9BB"/>
    <a:srgbClr val="E5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00" d="100"/>
          <a:sy n="300" d="100"/>
        </p:scale>
        <p:origin x="282" y="-420"/>
      </p:cViewPr>
      <p:guideLst>
        <p:guide orient="horz" pos="3083"/>
        <p:guide orient="horz" pos="743"/>
        <p:guide orient="horz" pos="893"/>
        <p:guide orient="horz" pos="438"/>
        <p:guide orient="horz" pos="1671"/>
        <p:guide orient="horz" pos="2236"/>
        <p:guide orient="horz" pos="146"/>
        <p:guide orient="horz" pos="2443"/>
        <p:guide pos="1794"/>
        <p:guide pos="2736"/>
        <p:guide pos="202"/>
        <p:guide pos="5322"/>
        <p:guide pos="5625"/>
        <p:guide pos="2878"/>
        <p:guide pos="3555"/>
        <p:guide pos="196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le Johnson" userId="8e2815994bc2401b" providerId="LiveId" clId="{DC1B0855-7945-42D3-8CBD-19B0ACE66973}"/>
    <pc:docChg chg="modSld">
      <pc:chgData name="Dale Johnson" userId="8e2815994bc2401b" providerId="LiveId" clId="{DC1B0855-7945-42D3-8CBD-19B0ACE66973}" dt="2025-10-16T18:17:04.461" v="4" actId="404"/>
      <pc:docMkLst>
        <pc:docMk/>
      </pc:docMkLst>
      <pc:sldChg chg="modSp mod">
        <pc:chgData name="Dale Johnson" userId="8e2815994bc2401b" providerId="LiveId" clId="{DC1B0855-7945-42D3-8CBD-19B0ACE66973}" dt="2025-10-16T18:15:20.370" v="2" actId="404"/>
        <pc:sldMkLst>
          <pc:docMk/>
          <pc:sldMk cId="3391998421" sldId="1230"/>
        </pc:sldMkLst>
        <pc:spChg chg="mod">
          <ac:chgData name="Dale Johnson" userId="8e2815994bc2401b" providerId="LiveId" clId="{DC1B0855-7945-42D3-8CBD-19B0ACE66973}" dt="2025-10-16T18:15:16.236" v="1" actId="404"/>
          <ac:spMkLst>
            <pc:docMk/>
            <pc:sldMk cId="3391998421" sldId="1230"/>
            <ac:spMk id="8" creationId="{C8A5375A-4CA8-4151-AA02-B1766C07E21C}"/>
          </ac:spMkLst>
        </pc:spChg>
        <pc:spChg chg="mod">
          <ac:chgData name="Dale Johnson" userId="8e2815994bc2401b" providerId="LiveId" clId="{DC1B0855-7945-42D3-8CBD-19B0ACE66973}" dt="2025-10-16T18:15:20.370" v="2" actId="404"/>
          <ac:spMkLst>
            <pc:docMk/>
            <pc:sldMk cId="3391998421" sldId="1230"/>
            <ac:spMk id="9" creationId="{EBF0F834-5668-4A8E-B920-B23309563EAF}"/>
          </ac:spMkLst>
        </pc:spChg>
      </pc:sldChg>
      <pc:sldChg chg="modSp mod">
        <pc:chgData name="Dale Johnson" userId="8e2815994bc2401b" providerId="LiveId" clId="{DC1B0855-7945-42D3-8CBD-19B0ACE66973}" dt="2025-10-16T18:17:04.461" v="4" actId="404"/>
        <pc:sldMkLst>
          <pc:docMk/>
          <pc:sldMk cId="62280598" sldId="1231"/>
        </pc:sldMkLst>
        <pc:spChg chg="mod">
          <ac:chgData name="Dale Johnson" userId="8e2815994bc2401b" providerId="LiveId" clId="{DC1B0855-7945-42D3-8CBD-19B0ACE66973}" dt="2025-10-16T18:17:04.461" v="4" actId="404"/>
          <ac:spMkLst>
            <pc:docMk/>
            <pc:sldMk cId="62280598" sldId="1231"/>
            <ac:spMk id="8" creationId="{C8A5375A-4CA8-4151-AA02-B1766C07E21C}"/>
          </ac:spMkLst>
        </pc:spChg>
        <pc:spChg chg="mod">
          <ac:chgData name="Dale Johnson" userId="8e2815994bc2401b" providerId="LiveId" clId="{DC1B0855-7945-42D3-8CBD-19B0ACE66973}" dt="2025-10-16T18:17:01.416" v="3" actId="404"/>
          <ac:spMkLst>
            <pc:docMk/>
            <pc:sldMk cId="62280598" sldId="1231"/>
            <ac:spMk id="42" creationId="{9C4136A0-0727-4306-B219-9FA4C8264A25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908AA3-BEF8-4286-A17E-20F79726D263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6B3D3DC1-82CE-4953-BA58-36C2156BBBEE}">
      <dgm:prSet phldrT="[Text]" custT="1"/>
      <dgm:spPr>
        <a:solidFill>
          <a:srgbClr val="D9E1F2"/>
        </a:solidFill>
      </dgm:spPr>
      <dgm:t>
        <a:bodyPr/>
        <a:lstStyle/>
        <a:p>
          <a:r>
            <a:rPr lang="en-US" sz="1800">
              <a:solidFill>
                <a:schemeClr val="tx1"/>
              </a:solidFill>
              <a:latin typeface="HP Simplified Light" panose="020B0404020204020204" pitchFamily="34" charset="0"/>
            </a:rPr>
            <a:t>1-Idea</a:t>
          </a:r>
        </a:p>
      </dgm:t>
    </dgm:pt>
    <dgm:pt modelId="{98941368-3B60-410E-8770-23B35DE84A72}" type="parTrans" cxnId="{041AE010-DE95-4D66-8EC9-6B769FC633EB}">
      <dgm:prSet/>
      <dgm:spPr/>
      <dgm:t>
        <a:bodyPr/>
        <a:lstStyle/>
        <a:p>
          <a:endParaRPr lang="en-US"/>
        </a:p>
      </dgm:t>
    </dgm:pt>
    <dgm:pt modelId="{C152ED11-BC1D-4D59-AEBC-27F109AE6887}" type="sibTrans" cxnId="{041AE010-DE95-4D66-8EC9-6B769FC633EB}">
      <dgm:prSet/>
      <dgm:spPr/>
      <dgm:t>
        <a:bodyPr/>
        <a:lstStyle/>
        <a:p>
          <a:endParaRPr lang="en-US"/>
        </a:p>
      </dgm:t>
    </dgm:pt>
    <dgm:pt modelId="{E693C1E3-8056-4AFA-B4A9-C7A35DA20632}">
      <dgm:prSet phldrT="[Text]" custT="1"/>
      <dgm:spPr>
        <a:solidFill>
          <a:srgbClr val="B4C6E7"/>
        </a:solidFill>
      </dgm:spPr>
      <dgm:t>
        <a:bodyPr/>
        <a:lstStyle/>
        <a:p>
          <a:r>
            <a:rPr lang="en-US" sz="1800">
              <a:solidFill>
                <a:schemeClr val="tx1"/>
              </a:solidFill>
              <a:latin typeface="HP Simplified Light" panose="020B0404020204020204" pitchFamily="34" charset="0"/>
            </a:rPr>
            <a:t>2-Design</a:t>
          </a:r>
        </a:p>
      </dgm:t>
    </dgm:pt>
    <dgm:pt modelId="{41FE7005-089E-447F-A05D-94CB38493407}" type="parTrans" cxnId="{B78AF6E0-A772-4578-B166-F1268768ACA0}">
      <dgm:prSet/>
      <dgm:spPr/>
      <dgm:t>
        <a:bodyPr/>
        <a:lstStyle/>
        <a:p>
          <a:endParaRPr lang="en-US"/>
        </a:p>
      </dgm:t>
    </dgm:pt>
    <dgm:pt modelId="{A6204D0F-84AD-40F1-ACD8-23358CE95545}" type="sibTrans" cxnId="{B78AF6E0-A772-4578-B166-F1268768ACA0}">
      <dgm:prSet/>
      <dgm:spPr/>
      <dgm:t>
        <a:bodyPr/>
        <a:lstStyle/>
        <a:p>
          <a:endParaRPr lang="en-US"/>
        </a:p>
      </dgm:t>
    </dgm:pt>
    <dgm:pt modelId="{C9687AFE-3091-4DC9-A372-EF795730C0BC}">
      <dgm:prSet phldrT="[Text]" custT="1"/>
      <dgm:spPr>
        <a:solidFill>
          <a:srgbClr val="8EA9DB"/>
        </a:solidFill>
      </dgm:spPr>
      <dgm:t>
        <a:bodyPr/>
        <a:lstStyle/>
        <a:p>
          <a:r>
            <a:rPr lang="en-US" sz="1800">
              <a:solidFill>
                <a:schemeClr val="tx1"/>
              </a:solidFill>
              <a:latin typeface="HP Simplified Light" panose="020B0404020204020204" pitchFamily="34" charset="0"/>
            </a:rPr>
            <a:t>3-Develop</a:t>
          </a:r>
        </a:p>
      </dgm:t>
    </dgm:pt>
    <dgm:pt modelId="{77711CFF-4675-41D3-8EF5-CA01FAC0C3B2}" type="parTrans" cxnId="{383892EC-133F-40FC-BD59-5EE5D923F243}">
      <dgm:prSet/>
      <dgm:spPr/>
      <dgm:t>
        <a:bodyPr/>
        <a:lstStyle/>
        <a:p>
          <a:endParaRPr lang="en-US"/>
        </a:p>
      </dgm:t>
    </dgm:pt>
    <dgm:pt modelId="{8CE0EDD2-E4EF-4C8A-9D50-25B9961B6268}" type="sibTrans" cxnId="{383892EC-133F-40FC-BD59-5EE5D923F243}">
      <dgm:prSet/>
      <dgm:spPr/>
      <dgm:t>
        <a:bodyPr/>
        <a:lstStyle/>
        <a:p>
          <a:endParaRPr lang="en-US"/>
        </a:p>
      </dgm:t>
    </dgm:pt>
    <dgm:pt modelId="{E03C162B-C576-480F-8A8C-BD35AD382E80}">
      <dgm:prSet phldrT="[Text]" custT="1"/>
      <dgm:spPr>
        <a:solidFill>
          <a:srgbClr val="305496"/>
        </a:solidFill>
      </dgm:spPr>
      <dgm:t>
        <a:bodyPr/>
        <a:lstStyle/>
        <a:p>
          <a:r>
            <a:rPr lang="en-US" sz="1800">
              <a:latin typeface="HP Simplified Light" panose="020B0404020204020204" pitchFamily="34" charset="0"/>
            </a:rPr>
            <a:t>4-Deploy</a:t>
          </a:r>
        </a:p>
      </dgm:t>
    </dgm:pt>
    <dgm:pt modelId="{462FCF18-50E4-4F9B-B58B-9E861B4B01C6}" type="parTrans" cxnId="{660AB96B-3534-4FC8-A44B-DA8ACD63D43C}">
      <dgm:prSet/>
      <dgm:spPr/>
      <dgm:t>
        <a:bodyPr/>
        <a:lstStyle/>
        <a:p>
          <a:endParaRPr lang="en-US"/>
        </a:p>
      </dgm:t>
    </dgm:pt>
    <dgm:pt modelId="{1C1E14D1-9E68-4B01-8420-784EF2B7DFA7}" type="sibTrans" cxnId="{660AB96B-3534-4FC8-A44B-DA8ACD63D43C}">
      <dgm:prSet/>
      <dgm:spPr/>
      <dgm:t>
        <a:bodyPr/>
        <a:lstStyle/>
        <a:p>
          <a:endParaRPr lang="en-US"/>
        </a:p>
      </dgm:t>
    </dgm:pt>
    <dgm:pt modelId="{72DAD41E-9262-4652-9AF3-8E83A471288E}">
      <dgm:prSet phldrT="[Text]" custT="1"/>
      <dgm:spPr>
        <a:solidFill>
          <a:srgbClr val="203764"/>
        </a:solidFill>
      </dgm:spPr>
      <dgm:t>
        <a:bodyPr/>
        <a:lstStyle/>
        <a:p>
          <a:r>
            <a:rPr lang="en-US" sz="1800">
              <a:latin typeface="HP Simplified Light" panose="020B0404020204020204" pitchFamily="34" charset="0"/>
            </a:rPr>
            <a:t>5-Improve</a:t>
          </a:r>
        </a:p>
      </dgm:t>
    </dgm:pt>
    <dgm:pt modelId="{CCC51AC7-58F3-4658-AE1A-1851946F48B5}" type="parTrans" cxnId="{8B91C498-EE94-40B8-AD39-706AF53A2A06}">
      <dgm:prSet/>
      <dgm:spPr/>
      <dgm:t>
        <a:bodyPr/>
        <a:lstStyle/>
        <a:p>
          <a:endParaRPr lang="en-US"/>
        </a:p>
      </dgm:t>
    </dgm:pt>
    <dgm:pt modelId="{D9BFF84F-A88E-488A-86DD-E55B0D3AA56F}" type="sibTrans" cxnId="{8B91C498-EE94-40B8-AD39-706AF53A2A06}">
      <dgm:prSet/>
      <dgm:spPr/>
      <dgm:t>
        <a:bodyPr/>
        <a:lstStyle/>
        <a:p>
          <a:endParaRPr lang="en-US"/>
        </a:p>
      </dgm:t>
    </dgm:pt>
    <dgm:pt modelId="{9D436E50-63C4-4E35-90EA-C23AD88EA5A1}" type="pres">
      <dgm:prSet presAssocID="{0D908AA3-BEF8-4286-A17E-20F79726D263}" presName="Name0" presStyleCnt="0">
        <dgm:presLayoutVars>
          <dgm:dir/>
          <dgm:resizeHandles val="exact"/>
        </dgm:presLayoutVars>
      </dgm:prSet>
      <dgm:spPr/>
    </dgm:pt>
    <dgm:pt modelId="{C1419286-34C0-44FF-9CC3-91F3A9E00B1F}" type="pres">
      <dgm:prSet presAssocID="{6B3D3DC1-82CE-4953-BA58-36C2156BBBEE}" presName="parTxOnly" presStyleLbl="node1" presStyleIdx="0" presStyleCnt="5" custLinFactNeighborX="-9555" custLinFactNeighborY="0">
        <dgm:presLayoutVars>
          <dgm:bulletEnabled val="1"/>
        </dgm:presLayoutVars>
      </dgm:prSet>
      <dgm:spPr/>
    </dgm:pt>
    <dgm:pt modelId="{6FCA3B17-A6F1-4AF2-95E2-1E1B66585625}" type="pres">
      <dgm:prSet presAssocID="{C152ED11-BC1D-4D59-AEBC-27F109AE6887}" presName="parSpace" presStyleCnt="0"/>
      <dgm:spPr/>
    </dgm:pt>
    <dgm:pt modelId="{4CC8C089-B299-4E91-B3A6-DA965E41ED97}" type="pres">
      <dgm:prSet presAssocID="{E693C1E3-8056-4AFA-B4A9-C7A35DA20632}" presName="parTxOnly" presStyleLbl="node1" presStyleIdx="1" presStyleCnt="5">
        <dgm:presLayoutVars>
          <dgm:bulletEnabled val="1"/>
        </dgm:presLayoutVars>
      </dgm:prSet>
      <dgm:spPr/>
    </dgm:pt>
    <dgm:pt modelId="{C65AFB0B-C52D-43FB-B00E-8BDCB05122C5}" type="pres">
      <dgm:prSet presAssocID="{A6204D0F-84AD-40F1-ACD8-23358CE95545}" presName="parSpace" presStyleCnt="0"/>
      <dgm:spPr/>
    </dgm:pt>
    <dgm:pt modelId="{4638E16E-9292-4C30-98A8-67FAD728C540}" type="pres">
      <dgm:prSet presAssocID="{C9687AFE-3091-4DC9-A372-EF795730C0BC}" presName="parTxOnly" presStyleLbl="node1" presStyleIdx="2" presStyleCnt="5">
        <dgm:presLayoutVars>
          <dgm:bulletEnabled val="1"/>
        </dgm:presLayoutVars>
      </dgm:prSet>
      <dgm:spPr/>
    </dgm:pt>
    <dgm:pt modelId="{A6011837-4317-4419-90C1-292B753C33E8}" type="pres">
      <dgm:prSet presAssocID="{8CE0EDD2-E4EF-4C8A-9D50-25B9961B6268}" presName="parSpace" presStyleCnt="0"/>
      <dgm:spPr/>
    </dgm:pt>
    <dgm:pt modelId="{41C74D88-9E5D-40AC-B8E4-75A7BA8D5038}" type="pres">
      <dgm:prSet presAssocID="{E03C162B-C576-480F-8A8C-BD35AD382E80}" presName="parTxOnly" presStyleLbl="node1" presStyleIdx="3" presStyleCnt="5">
        <dgm:presLayoutVars>
          <dgm:bulletEnabled val="1"/>
        </dgm:presLayoutVars>
      </dgm:prSet>
      <dgm:spPr/>
    </dgm:pt>
    <dgm:pt modelId="{35DC0A1B-8A3E-4593-B433-4C332671626F}" type="pres">
      <dgm:prSet presAssocID="{1C1E14D1-9E68-4B01-8420-784EF2B7DFA7}" presName="parSpace" presStyleCnt="0"/>
      <dgm:spPr/>
    </dgm:pt>
    <dgm:pt modelId="{87ABA04C-681A-4D0F-A9EC-A0DFE9C9193F}" type="pres">
      <dgm:prSet presAssocID="{72DAD41E-9262-4652-9AF3-8E83A471288E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041AE010-DE95-4D66-8EC9-6B769FC633EB}" srcId="{0D908AA3-BEF8-4286-A17E-20F79726D263}" destId="{6B3D3DC1-82CE-4953-BA58-36C2156BBBEE}" srcOrd="0" destOrd="0" parTransId="{98941368-3B60-410E-8770-23B35DE84A72}" sibTransId="{C152ED11-BC1D-4D59-AEBC-27F109AE6887}"/>
    <dgm:cxn modelId="{13B06511-3CBE-4575-8F37-8D13659ADCC9}" type="presOf" srcId="{6B3D3DC1-82CE-4953-BA58-36C2156BBBEE}" destId="{C1419286-34C0-44FF-9CC3-91F3A9E00B1F}" srcOrd="0" destOrd="0" presId="urn:microsoft.com/office/officeart/2005/8/layout/hChevron3"/>
    <dgm:cxn modelId="{3C030934-1DFB-4C05-A625-5DD660B66FB1}" type="presOf" srcId="{0D908AA3-BEF8-4286-A17E-20F79726D263}" destId="{9D436E50-63C4-4E35-90EA-C23AD88EA5A1}" srcOrd="0" destOrd="0" presId="urn:microsoft.com/office/officeart/2005/8/layout/hChevron3"/>
    <dgm:cxn modelId="{FAB52D3C-89B6-4463-9273-DA77E734D659}" type="presOf" srcId="{E03C162B-C576-480F-8A8C-BD35AD382E80}" destId="{41C74D88-9E5D-40AC-B8E4-75A7BA8D5038}" srcOrd="0" destOrd="0" presId="urn:microsoft.com/office/officeart/2005/8/layout/hChevron3"/>
    <dgm:cxn modelId="{851E2A63-FAFD-4794-8137-B7BFB1C97345}" type="presOf" srcId="{C9687AFE-3091-4DC9-A372-EF795730C0BC}" destId="{4638E16E-9292-4C30-98A8-67FAD728C540}" srcOrd="0" destOrd="0" presId="urn:microsoft.com/office/officeart/2005/8/layout/hChevron3"/>
    <dgm:cxn modelId="{660AB96B-3534-4FC8-A44B-DA8ACD63D43C}" srcId="{0D908AA3-BEF8-4286-A17E-20F79726D263}" destId="{E03C162B-C576-480F-8A8C-BD35AD382E80}" srcOrd="3" destOrd="0" parTransId="{462FCF18-50E4-4F9B-B58B-9E861B4B01C6}" sibTransId="{1C1E14D1-9E68-4B01-8420-784EF2B7DFA7}"/>
    <dgm:cxn modelId="{8B91C498-EE94-40B8-AD39-706AF53A2A06}" srcId="{0D908AA3-BEF8-4286-A17E-20F79726D263}" destId="{72DAD41E-9262-4652-9AF3-8E83A471288E}" srcOrd="4" destOrd="0" parTransId="{CCC51AC7-58F3-4658-AE1A-1851946F48B5}" sibTransId="{D9BFF84F-A88E-488A-86DD-E55B0D3AA56F}"/>
    <dgm:cxn modelId="{317DCEBE-8152-46A9-B1F2-4A957F41A190}" type="presOf" srcId="{E693C1E3-8056-4AFA-B4A9-C7A35DA20632}" destId="{4CC8C089-B299-4E91-B3A6-DA965E41ED97}" srcOrd="0" destOrd="0" presId="urn:microsoft.com/office/officeart/2005/8/layout/hChevron3"/>
    <dgm:cxn modelId="{B78AF6E0-A772-4578-B166-F1268768ACA0}" srcId="{0D908AA3-BEF8-4286-A17E-20F79726D263}" destId="{E693C1E3-8056-4AFA-B4A9-C7A35DA20632}" srcOrd="1" destOrd="0" parTransId="{41FE7005-089E-447F-A05D-94CB38493407}" sibTransId="{A6204D0F-84AD-40F1-ACD8-23358CE95545}"/>
    <dgm:cxn modelId="{383892EC-133F-40FC-BD59-5EE5D923F243}" srcId="{0D908AA3-BEF8-4286-A17E-20F79726D263}" destId="{C9687AFE-3091-4DC9-A372-EF795730C0BC}" srcOrd="2" destOrd="0" parTransId="{77711CFF-4675-41D3-8EF5-CA01FAC0C3B2}" sibTransId="{8CE0EDD2-E4EF-4C8A-9D50-25B9961B6268}"/>
    <dgm:cxn modelId="{1CACB9F9-EB62-4C17-95B4-847F33E950FD}" type="presOf" srcId="{72DAD41E-9262-4652-9AF3-8E83A471288E}" destId="{87ABA04C-681A-4D0F-A9EC-A0DFE9C9193F}" srcOrd="0" destOrd="0" presId="urn:microsoft.com/office/officeart/2005/8/layout/hChevron3"/>
    <dgm:cxn modelId="{CE56CE45-6EA0-48C6-97C8-596DD1D6240B}" type="presParOf" srcId="{9D436E50-63C4-4E35-90EA-C23AD88EA5A1}" destId="{C1419286-34C0-44FF-9CC3-91F3A9E00B1F}" srcOrd="0" destOrd="0" presId="urn:microsoft.com/office/officeart/2005/8/layout/hChevron3"/>
    <dgm:cxn modelId="{D011E6A7-FD2B-489E-AFDE-8E78FF3BE167}" type="presParOf" srcId="{9D436E50-63C4-4E35-90EA-C23AD88EA5A1}" destId="{6FCA3B17-A6F1-4AF2-95E2-1E1B66585625}" srcOrd="1" destOrd="0" presId="urn:microsoft.com/office/officeart/2005/8/layout/hChevron3"/>
    <dgm:cxn modelId="{5AD46BD6-A5CC-49F1-BEFF-5F296698012F}" type="presParOf" srcId="{9D436E50-63C4-4E35-90EA-C23AD88EA5A1}" destId="{4CC8C089-B299-4E91-B3A6-DA965E41ED97}" srcOrd="2" destOrd="0" presId="urn:microsoft.com/office/officeart/2005/8/layout/hChevron3"/>
    <dgm:cxn modelId="{6D7F7B3A-3B17-45D8-8D49-825AF0FE4A49}" type="presParOf" srcId="{9D436E50-63C4-4E35-90EA-C23AD88EA5A1}" destId="{C65AFB0B-C52D-43FB-B00E-8BDCB05122C5}" srcOrd="3" destOrd="0" presId="urn:microsoft.com/office/officeart/2005/8/layout/hChevron3"/>
    <dgm:cxn modelId="{0910EFD3-2B9A-4730-AA0D-3436877AC6A5}" type="presParOf" srcId="{9D436E50-63C4-4E35-90EA-C23AD88EA5A1}" destId="{4638E16E-9292-4C30-98A8-67FAD728C540}" srcOrd="4" destOrd="0" presId="urn:microsoft.com/office/officeart/2005/8/layout/hChevron3"/>
    <dgm:cxn modelId="{5102240E-7F6E-4E2D-8BD0-0BD27656E216}" type="presParOf" srcId="{9D436E50-63C4-4E35-90EA-C23AD88EA5A1}" destId="{A6011837-4317-4419-90C1-292B753C33E8}" srcOrd="5" destOrd="0" presId="urn:microsoft.com/office/officeart/2005/8/layout/hChevron3"/>
    <dgm:cxn modelId="{C5DE71D1-ED00-4AC5-9743-409997BE0731}" type="presParOf" srcId="{9D436E50-63C4-4E35-90EA-C23AD88EA5A1}" destId="{41C74D88-9E5D-40AC-B8E4-75A7BA8D5038}" srcOrd="6" destOrd="0" presId="urn:microsoft.com/office/officeart/2005/8/layout/hChevron3"/>
    <dgm:cxn modelId="{BD1FA685-277C-42BA-AB59-78CD82531C40}" type="presParOf" srcId="{9D436E50-63C4-4E35-90EA-C23AD88EA5A1}" destId="{35DC0A1B-8A3E-4593-B433-4C332671626F}" srcOrd="7" destOrd="0" presId="urn:microsoft.com/office/officeart/2005/8/layout/hChevron3"/>
    <dgm:cxn modelId="{853D22B8-F8C0-478F-99B7-8EF217016D7B}" type="presParOf" srcId="{9D436E50-63C4-4E35-90EA-C23AD88EA5A1}" destId="{87ABA04C-681A-4D0F-A9EC-A0DFE9C9193F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D908AA3-BEF8-4286-A17E-20F79726D263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6B3D3DC1-82CE-4953-BA58-36C2156BBBEE}">
      <dgm:prSet phldrT="[Text]" custT="1"/>
      <dgm:spPr>
        <a:solidFill>
          <a:srgbClr val="D9E1F2"/>
        </a:solidFill>
      </dgm:spPr>
      <dgm:t>
        <a:bodyPr/>
        <a:lstStyle/>
        <a:p>
          <a:r>
            <a:rPr lang="en-US" sz="1800">
              <a:solidFill>
                <a:schemeClr val="tx1"/>
              </a:solidFill>
              <a:latin typeface="HP Simplified Light" panose="020B0404020204020204" pitchFamily="34" charset="0"/>
            </a:rPr>
            <a:t>1-Idea</a:t>
          </a:r>
        </a:p>
      </dgm:t>
    </dgm:pt>
    <dgm:pt modelId="{98941368-3B60-410E-8770-23B35DE84A72}" type="parTrans" cxnId="{041AE010-DE95-4D66-8EC9-6B769FC633EB}">
      <dgm:prSet/>
      <dgm:spPr/>
      <dgm:t>
        <a:bodyPr/>
        <a:lstStyle/>
        <a:p>
          <a:endParaRPr lang="en-US"/>
        </a:p>
      </dgm:t>
    </dgm:pt>
    <dgm:pt modelId="{C152ED11-BC1D-4D59-AEBC-27F109AE6887}" type="sibTrans" cxnId="{041AE010-DE95-4D66-8EC9-6B769FC633EB}">
      <dgm:prSet/>
      <dgm:spPr/>
      <dgm:t>
        <a:bodyPr/>
        <a:lstStyle/>
        <a:p>
          <a:endParaRPr lang="en-US"/>
        </a:p>
      </dgm:t>
    </dgm:pt>
    <dgm:pt modelId="{E693C1E3-8056-4AFA-B4A9-C7A35DA20632}">
      <dgm:prSet phldrT="[Text]" custT="1"/>
      <dgm:spPr>
        <a:solidFill>
          <a:srgbClr val="B4C6E7"/>
        </a:solidFill>
      </dgm:spPr>
      <dgm:t>
        <a:bodyPr/>
        <a:lstStyle/>
        <a:p>
          <a:r>
            <a:rPr lang="en-US" sz="1800">
              <a:solidFill>
                <a:schemeClr val="tx1"/>
              </a:solidFill>
              <a:latin typeface="HP Simplified Light" panose="020B0404020204020204" pitchFamily="34" charset="0"/>
            </a:rPr>
            <a:t>2-Design</a:t>
          </a:r>
        </a:p>
      </dgm:t>
    </dgm:pt>
    <dgm:pt modelId="{41FE7005-089E-447F-A05D-94CB38493407}" type="parTrans" cxnId="{B78AF6E0-A772-4578-B166-F1268768ACA0}">
      <dgm:prSet/>
      <dgm:spPr/>
      <dgm:t>
        <a:bodyPr/>
        <a:lstStyle/>
        <a:p>
          <a:endParaRPr lang="en-US"/>
        </a:p>
      </dgm:t>
    </dgm:pt>
    <dgm:pt modelId="{A6204D0F-84AD-40F1-ACD8-23358CE95545}" type="sibTrans" cxnId="{B78AF6E0-A772-4578-B166-F1268768ACA0}">
      <dgm:prSet/>
      <dgm:spPr/>
      <dgm:t>
        <a:bodyPr/>
        <a:lstStyle/>
        <a:p>
          <a:endParaRPr lang="en-US"/>
        </a:p>
      </dgm:t>
    </dgm:pt>
    <dgm:pt modelId="{C9687AFE-3091-4DC9-A372-EF795730C0BC}">
      <dgm:prSet phldrT="[Text]" custT="1"/>
      <dgm:spPr>
        <a:solidFill>
          <a:srgbClr val="8EA9DB"/>
        </a:solidFill>
      </dgm:spPr>
      <dgm:t>
        <a:bodyPr/>
        <a:lstStyle/>
        <a:p>
          <a:r>
            <a:rPr lang="en-US" sz="1800">
              <a:solidFill>
                <a:schemeClr val="tx1"/>
              </a:solidFill>
              <a:latin typeface="HP Simplified Light" panose="020B0404020204020204" pitchFamily="34" charset="0"/>
            </a:rPr>
            <a:t>3-Develop</a:t>
          </a:r>
        </a:p>
      </dgm:t>
    </dgm:pt>
    <dgm:pt modelId="{77711CFF-4675-41D3-8EF5-CA01FAC0C3B2}" type="parTrans" cxnId="{383892EC-133F-40FC-BD59-5EE5D923F243}">
      <dgm:prSet/>
      <dgm:spPr/>
      <dgm:t>
        <a:bodyPr/>
        <a:lstStyle/>
        <a:p>
          <a:endParaRPr lang="en-US"/>
        </a:p>
      </dgm:t>
    </dgm:pt>
    <dgm:pt modelId="{8CE0EDD2-E4EF-4C8A-9D50-25B9961B6268}" type="sibTrans" cxnId="{383892EC-133F-40FC-BD59-5EE5D923F243}">
      <dgm:prSet/>
      <dgm:spPr/>
      <dgm:t>
        <a:bodyPr/>
        <a:lstStyle/>
        <a:p>
          <a:endParaRPr lang="en-US"/>
        </a:p>
      </dgm:t>
    </dgm:pt>
    <dgm:pt modelId="{E03C162B-C576-480F-8A8C-BD35AD382E80}">
      <dgm:prSet phldrT="[Text]" custT="1"/>
      <dgm:spPr>
        <a:solidFill>
          <a:srgbClr val="305496"/>
        </a:solidFill>
      </dgm:spPr>
      <dgm:t>
        <a:bodyPr/>
        <a:lstStyle/>
        <a:p>
          <a:r>
            <a:rPr lang="en-US" sz="1800">
              <a:latin typeface="HP Simplified Light" panose="020B0404020204020204" pitchFamily="34" charset="0"/>
            </a:rPr>
            <a:t>4-Deploy</a:t>
          </a:r>
        </a:p>
      </dgm:t>
    </dgm:pt>
    <dgm:pt modelId="{462FCF18-50E4-4F9B-B58B-9E861B4B01C6}" type="parTrans" cxnId="{660AB96B-3534-4FC8-A44B-DA8ACD63D43C}">
      <dgm:prSet/>
      <dgm:spPr/>
      <dgm:t>
        <a:bodyPr/>
        <a:lstStyle/>
        <a:p>
          <a:endParaRPr lang="en-US"/>
        </a:p>
      </dgm:t>
    </dgm:pt>
    <dgm:pt modelId="{1C1E14D1-9E68-4B01-8420-784EF2B7DFA7}" type="sibTrans" cxnId="{660AB96B-3534-4FC8-A44B-DA8ACD63D43C}">
      <dgm:prSet/>
      <dgm:spPr/>
      <dgm:t>
        <a:bodyPr/>
        <a:lstStyle/>
        <a:p>
          <a:endParaRPr lang="en-US"/>
        </a:p>
      </dgm:t>
    </dgm:pt>
    <dgm:pt modelId="{72DAD41E-9262-4652-9AF3-8E83A471288E}">
      <dgm:prSet phldrT="[Text]" custT="1"/>
      <dgm:spPr>
        <a:solidFill>
          <a:srgbClr val="203764"/>
        </a:solidFill>
      </dgm:spPr>
      <dgm:t>
        <a:bodyPr/>
        <a:lstStyle/>
        <a:p>
          <a:r>
            <a:rPr lang="en-US" sz="1800">
              <a:latin typeface="HP Simplified Light" panose="020B0404020204020204" pitchFamily="34" charset="0"/>
            </a:rPr>
            <a:t>5-Improve</a:t>
          </a:r>
        </a:p>
      </dgm:t>
    </dgm:pt>
    <dgm:pt modelId="{CCC51AC7-58F3-4658-AE1A-1851946F48B5}" type="parTrans" cxnId="{8B91C498-EE94-40B8-AD39-706AF53A2A06}">
      <dgm:prSet/>
      <dgm:spPr/>
      <dgm:t>
        <a:bodyPr/>
        <a:lstStyle/>
        <a:p>
          <a:endParaRPr lang="en-US"/>
        </a:p>
      </dgm:t>
    </dgm:pt>
    <dgm:pt modelId="{D9BFF84F-A88E-488A-86DD-E55B0D3AA56F}" type="sibTrans" cxnId="{8B91C498-EE94-40B8-AD39-706AF53A2A06}">
      <dgm:prSet/>
      <dgm:spPr/>
      <dgm:t>
        <a:bodyPr/>
        <a:lstStyle/>
        <a:p>
          <a:endParaRPr lang="en-US"/>
        </a:p>
      </dgm:t>
    </dgm:pt>
    <dgm:pt modelId="{9D436E50-63C4-4E35-90EA-C23AD88EA5A1}" type="pres">
      <dgm:prSet presAssocID="{0D908AA3-BEF8-4286-A17E-20F79726D263}" presName="Name0" presStyleCnt="0">
        <dgm:presLayoutVars>
          <dgm:dir/>
          <dgm:resizeHandles val="exact"/>
        </dgm:presLayoutVars>
      </dgm:prSet>
      <dgm:spPr/>
    </dgm:pt>
    <dgm:pt modelId="{C1419286-34C0-44FF-9CC3-91F3A9E00B1F}" type="pres">
      <dgm:prSet presAssocID="{6B3D3DC1-82CE-4953-BA58-36C2156BBBEE}" presName="parTxOnly" presStyleLbl="node1" presStyleIdx="0" presStyleCnt="5" custLinFactNeighborX="-9555" custLinFactNeighborY="0">
        <dgm:presLayoutVars>
          <dgm:bulletEnabled val="1"/>
        </dgm:presLayoutVars>
      </dgm:prSet>
      <dgm:spPr/>
    </dgm:pt>
    <dgm:pt modelId="{6FCA3B17-A6F1-4AF2-95E2-1E1B66585625}" type="pres">
      <dgm:prSet presAssocID="{C152ED11-BC1D-4D59-AEBC-27F109AE6887}" presName="parSpace" presStyleCnt="0"/>
      <dgm:spPr/>
    </dgm:pt>
    <dgm:pt modelId="{4CC8C089-B299-4E91-B3A6-DA965E41ED97}" type="pres">
      <dgm:prSet presAssocID="{E693C1E3-8056-4AFA-B4A9-C7A35DA20632}" presName="parTxOnly" presStyleLbl="node1" presStyleIdx="1" presStyleCnt="5">
        <dgm:presLayoutVars>
          <dgm:bulletEnabled val="1"/>
        </dgm:presLayoutVars>
      </dgm:prSet>
      <dgm:spPr/>
    </dgm:pt>
    <dgm:pt modelId="{C65AFB0B-C52D-43FB-B00E-8BDCB05122C5}" type="pres">
      <dgm:prSet presAssocID="{A6204D0F-84AD-40F1-ACD8-23358CE95545}" presName="parSpace" presStyleCnt="0"/>
      <dgm:spPr/>
    </dgm:pt>
    <dgm:pt modelId="{4638E16E-9292-4C30-98A8-67FAD728C540}" type="pres">
      <dgm:prSet presAssocID="{C9687AFE-3091-4DC9-A372-EF795730C0BC}" presName="parTxOnly" presStyleLbl="node1" presStyleIdx="2" presStyleCnt="5">
        <dgm:presLayoutVars>
          <dgm:bulletEnabled val="1"/>
        </dgm:presLayoutVars>
      </dgm:prSet>
      <dgm:spPr/>
    </dgm:pt>
    <dgm:pt modelId="{A6011837-4317-4419-90C1-292B753C33E8}" type="pres">
      <dgm:prSet presAssocID="{8CE0EDD2-E4EF-4C8A-9D50-25B9961B6268}" presName="parSpace" presStyleCnt="0"/>
      <dgm:spPr/>
    </dgm:pt>
    <dgm:pt modelId="{41C74D88-9E5D-40AC-B8E4-75A7BA8D5038}" type="pres">
      <dgm:prSet presAssocID="{E03C162B-C576-480F-8A8C-BD35AD382E80}" presName="parTxOnly" presStyleLbl="node1" presStyleIdx="3" presStyleCnt="5">
        <dgm:presLayoutVars>
          <dgm:bulletEnabled val="1"/>
        </dgm:presLayoutVars>
      </dgm:prSet>
      <dgm:spPr/>
    </dgm:pt>
    <dgm:pt modelId="{35DC0A1B-8A3E-4593-B433-4C332671626F}" type="pres">
      <dgm:prSet presAssocID="{1C1E14D1-9E68-4B01-8420-784EF2B7DFA7}" presName="parSpace" presStyleCnt="0"/>
      <dgm:spPr/>
    </dgm:pt>
    <dgm:pt modelId="{87ABA04C-681A-4D0F-A9EC-A0DFE9C9193F}" type="pres">
      <dgm:prSet presAssocID="{72DAD41E-9262-4652-9AF3-8E83A471288E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041AE010-DE95-4D66-8EC9-6B769FC633EB}" srcId="{0D908AA3-BEF8-4286-A17E-20F79726D263}" destId="{6B3D3DC1-82CE-4953-BA58-36C2156BBBEE}" srcOrd="0" destOrd="0" parTransId="{98941368-3B60-410E-8770-23B35DE84A72}" sibTransId="{C152ED11-BC1D-4D59-AEBC-27F109AE6887}"/>
    <dgm:cxn modelId="{13B06511-3CBE-4575-8F37-8D13659ADCC9}" type="presOf" srcId="{6B3D3DC1-82CE-4953-BA58-36C2156BBBEE}" destId="{C1419286-34C0-44FF-9CC3-91F3A9E00B1F}" srcOrd="0" destOrd="0" presId="urn:microsoft.com/office/officeart/2005/8/layout/hChevron3"/>
    <dgm:cxn modelId="{3C030934-1DFB-4C05-A625-5DD660B66FB1}" type="presOf" srcId="{0D908AA3-BEF8-4286-A17E-20F79726D263}" destId="{9D436E50-63C4-4E35-90EA-C23AD88EA5A1}" srcOrd="0" destOrd="0" presId="urn:microsoft.com/office/officeart/2005/8/layout/hChevron3"/>
    <dgm:cxn modelId="{FAB52D3C-89B6-4463-9273-DA77E734D659}" type="presOf" srcId="{E03C162B-C576-480F-8A8C-BD35AD382E80}" destId="{41C74D88-9E5D-40AC-B8E4-75A7BA8D5038}" srcOrd="0" destOrd="0" presId="urn:microsoft.com/office/officeart/2005/8/layout/hChevron3"/>
    <dgm:cxn modelId="{851E2A63-FAFD-4794-8137-B7BFB1C97345}" type="presOf" srcId="{C9687AFE-3091-4DC9-A372-EF795730C0BC}" destId="{4638E16E-9292-4C30-98A8-67FAD728C540}" srcOrd="0" destOrd="0" presId="urn:microsoft.com/office/officeart/2005/8/layout/hChevron3"/>
    <dgm:cxn modelId="{660AB96B-3534-4FC8-A44B-DA8ACD63D43C}" srcId="{0D908AA3-BEF8-4286-A17E-20F79726D263}" destId="{E03C162B-C576-480F-8A8C-BD35AD382E80}" srcOrd="3" destOrd="0" parTransId="{462FCF18-50E4-4F9B-B58B-9E861B4B01C6}" sibTransId="{1C1E14D1-9E68-4B01-8420-784EF2B7DFA7}"/>
    <dgm:cxn modelId="{8B91C498-EE94-40B8-AD39-706AF53A2A06}" srcId="{0D908AA3-BEF8-4286-A17E-20F79726D263}" destId="{72DAD41E-9262-4652-9AF3-8E83A471288E}" srcOrd="4" destOrd="0" parTransId="{CCC51AC7-58F3-4658-AE1A-1851946F48B5}" sibTransId="{D9BFF84F-A88E-488A-86DD-E55B0D3AA56F}"/>
    <dgm:cxn modelId="{317DCEBE-8152-46A9-B1F2-4A957F41A190}" type="presOf" srcId="{E693C1E3-8056-4AFA-B4A9-C7A35DA20632}" destId="{4CC8C089-B299-4E91-B3A6-DA965E41ED97}" srcOrd="0" destOrd="0" presId="urn:microsoft.com/office/officeart/2005/8/layout/hChevron3"/>
    <dgm:cxn modelId="{B78AF6E0-A772-4578-B166-F1268768ACA0}" srcId="{0D908AA3-BEF8-4286-A17E-20F79726D263}" destId="{E693C1E3-8056-4AFA-B4A9-C7A35DA20632}" srcOrd="1" destOrd="0" parTransId="{41FE7005-089E-447F-A05D-94CB38493407}" sibTransId="{A6204D0F-84AD-40F1-ACD8-23358CE95545}"/>
    <dgm:cxn modelId="{383892EC-133F-40FC-BD59-5EE5D923F243}" srcId="{0D908AA3-BEF8-4286-A17E-20F79726D263}" destId="{C9687AFE-3091-4DC9-A372-EF795730C0BC}" srcOrd="2" destOrd="0" parTransId="{77711CFF-4675-41D3-8EF5-CA01FAC0C3B2}" sibTransId="{8CE0EDD2-E4EF-4C8A-9D50-25B9961B6268}"/>
    <dgm:cxn modelId="{1CACB9F9-EB62-4C17-95B4-847F33E950FD}" type="presOf" srcId="{72DAD41E-9262-4652-9AF3-8E83A471288E}" destId="{87ABA04C-681A-4D0F-A9EC-A0DFE9C9193F}" srcOrd="0" destOrd="0" presId="urn:microsoft.com/office/officeart/2005/8/layout/hChevron3"/>
    <dgm:cxn modelId="{CE56CE45-6EA0-48C6-97C8-596DD1D6240B}" type="presParOf" srcId="{9D436E50-63C4-4E35-90EA-C23AD88EA5A1}" destId="{C1419286-34C0-44FF-9CC3-91F3A9E00B1F}" srcOrd="0" destOrd="0" presId="urn:microsoft.com/office/officeart/2005/8/layout/hChevron3"/>
    <dgm:cxn modelId="{D011E6A7-FD2B-489E-AFDE-8E78FF3BE167}" type="presParOf" srcId="{9D436E50-63C4-4E35-90EA-C23AD88EA5A1}" destId="{6FCA3B17-A6F1-4AF2-95E2-1E1B66585625}" srcOrd="1" destOrd="0" presId="urn:microsoft.com/office/officeart/2005/8/layout/hChevron3"/>
    <dgm:cxn modelId="{5AD46BD6-A5CC-49F1-BEFF-5F296698012F}" type="presParOf" srcId="{9D436E50-63C4-4E35-90EA-C23AD88EA5A1}" destId="{4CC8C089-B299-4E91-B3A6-DA965E41ED97}" srcOrd="2" destOrd="0" presId="urn:microsoft.com/office/officeart/2005/8/layout/hChevron3"/>
    <dgm:cxn modelId="{6D7F7B3A-3B17-45D8-8D49-825AF0FE4A49}" type="presParOf" srcId="{9D436E50-63C4-4E35-90EA-C23AD88EA5A1}" destId="{C65AFB0B-C52D-43FB-B00E-8BDCB05122C5}" srcOrd="3" destOrd="0" presId="urn:microsoft.com/office/officeart/2005/8/layout/hChevron3"/>
    <dgm:cxn modelId="{0910EFD3-2B9A-4730-AA0D-3436877AC6A5}" type="presParOf" srcId="{9D436E50-63C4-4E35-90EA-C23AD88EA5A1}" destId="{4638E16E-9292-4C30-98A8-67FAD728C540}" srcOrd="4" destOrd="0" presId="urn:microsoft.com/office/officeart/2005/8/layout/hChevron3"/>
    <dgm:cxn modelId="{5102240E-7F6E-4E2D-8BD0-0BD27656E216}" type="presParOf" srcId="{9D436E50-63C4-4E35-90EA-C23AD88EA5A1}" destId="{A6011837-4317-4419-90C1-292B753C33E8}" srcOrd="5" destOrd="0" presId="urn:microsoft.com/office/officeart/2005/8/layout/hChevron3"/>
    <dgm:cxn modelId="{C5DE71D1-ED00-4AC5-9743-409997BE0731}" type="presParOf" srcId="{9D436E50-63C4-4E35-90EA-C23AD88EA5A1}" destId="{41C74D88-9E5D-40AC-B8E4-75A7BA8D5038}" srcOrd="6" destOrd="0" presId="urn:microsoft.com/office/officeart/2005/8/layout/hChevron3"/>
    <dgm:cxn modelId="{BD1FA685-277C-42BA-AB59-78CD82531C40}" type="presParOf" srcId="{9D436E50-63C4-4E35-90EA-C23AD88EA5A1}" destId="{35DC0A1B-8A3E-4593-B433-4C332671626F}" srcOrd="7" destOrd="0" presId="urn:microsoft.com/office/officeart/2005/8/layout/hChevron3"/>
    <dgm:cxn modelId="{853D22B8-F8C0-478F-99B7-8EF217016D7B}" type="presParOf" srcId="{9D436E50-63C4-4E35-90EA-C23AD88EA5A1}" destId="{87ABA04C-681A-4D0F-A9EC-A0DFE9C9193F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419286-34C0-44FF-9CC3-91F3A9E00B1F}">
      <dsp:nvSpPr>
        <dsp:cNvPr id="0" name=""/>
        <dsp:cNvSpPr/>
      </dsp:nvSpPr>
      <dsp:spPr>
        <a:xfrm>
          <a:off x="0" y="278353"/>
          <a:ext cx="1794343" cy="717737"/>
        </a:xfrm>
        <a:prstGeom prst="homePlate">
          <a:avLst/>
        </a:prstGeom>
        <a:solidFill>
          <a:srgbClr val="D9E1F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tx1"/>
              </a:solidFill>
              <a:latin typeface="HP Simplified Light" panose="020B0404020204020204" pitchFamily="34" charset="0"/>
            </a:rPr>
            <a:t>1-Idea</a:t>
          </a:r>
        </a:p>
      </dsp:txBody>
      <dsp:txXfrm>
        <a:off x="0" y="278353"/>
        <a:ext cx="1614909" cy="717737"/>
      </dsp:txXfrm>
    </dsp:sp>
    <dsp:sp modelId="{4CC8C089-B299-4E91-B3A6-DA965E41ED97}">
      <dsp:nvSpPr>
        <dsp:cNvPr id="0" name=""/>
        <dsp:cNvSpPr/>
      </dsp:nvSpPr>
      <dsp:spPr>
        <a:xfrm>
          <a:off x="1436395" y="278353"/>
          <a:ext cx="1794343" cy="717737"/>
        </a:xfrm>
        <a:prstGeom prst="chevron">
          <a:avLst/>
        </a:prstGeom>
        <a:solidFill>
          <a:srgbClr val="B4C6E7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tx1"/>
              </a:solidFill>
              <a:latin typeface="HP Simplified Light" panose="020B0404020204020204" pitchFamily="34" charset="0"/>
            </a:rPr>
            <a:t>2-Design</a:t>
          </a:r>
        </a:p>
      </dsp:txBody>
      <dsp:txXfrm>
        <a:off x="1795264" y="278353"/>
        <a:ext cx="1076606" cy="717737"/>
      </dsp:txXfrm>
    </dsp:sp>
    <dsp:sp modelId="{4638E16E-9292-4C30-98A8-67FAD728C540}">
      <dsp:nvSpPr>
        <dsp:cNvPr id="0" name=""/>
        <dsp:cNvSpPr/>
      </dsp:nvSpPr>
      <dsp:spPr>
        <a:xfrm>
          <a:off x="2871870" y="278353"/>
          <a:ext cx="1794343" cy="717737"/>
        </a:xfrm>
        <a:prstGeom prst="chevron">
          <a:avLst/>
        </a:prstGeom>
        <a:solidFill>
          <a:srgbClr val="8EA9DB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tx1"/>
              </a:solidFill>
              <a:latin typeface="HP Simplified Light" panose="020B0404020204020204" pitchFamily="34" charset="0"/>
            </a:rPr>
            <a:t>3-Develop</a:t>
          </a:r>
        </a:p>
      </dsp:txBody>
      <dsp:txXfrm>
        <a:off x="3230739" y="278353"/>
        <a:ext cx="1076606" cy="717737"/>
      </dsp:txXfrm>
    </dsp:sp>
    <dsp:sp modelId="{41C74D88-9E5D-40AC-B8E4-75A7BA8D5038}">
      <dsp:nvSpPr>
        <dsp:cNvPr id="0" name=""/>
        <dsp:cNvSpPr/>
      </dsp:nvSpPr>
      <dsp:spPr>
        <a:xfrm>
          <a:off x="4307345" y="278353"/>
          <a:ext cx="1794343" cy="717737"/>
        </a:xfrm>
        <a:prstGeom prst="chevron">
          <a:avLst/>
        </a:prstGeom>
        <a:solidFill>
          <a:srgbClr val="30549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HP Simplified Light" panose="020B0404020204020204" pitchFamily="34" charset="0"/>
            </a:rPr>
            <a:t>4-Deploy</a:t>
          </a:r>
        </a:p>
      </dsp:txBody>
      <dsp:txXfrm>
        <a:off x="4666214" y="278353"/>
        <a:ext cx="1076606" cy="717737"/>
      </dsp:txXfrm>
    </dsp:sp>
    <dsp:sp modelId="{87ABA04C-681A-4D0F-A9EC-A0DFE9C9193F}">
      <dsp:nvSpPr>
        <dsp:cNvPr id="0" name=""/>
        <dsp:cNvSpPr/>
      </dsp:nvSpPr>
      <dsp:spPr>
        <a:xfrm>
          <a:off x="5742820" y="278353"/>
          <a:ext cx="1794343" cy="717737"/>
        </a:xfrm>
        <a:prstGeom prst="chevron">
          <a:avLst/>
        </a:prstGeom>
        <a:solidFill>
          <a:srgbClr val="20376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HP Simplified Light" panose="020B0404020204020204" pitchFamily="34" charset="0"/>
            </a:rPr>
            <a:t>5-Improve</a:t>
          </a:r>
        </a:p>
      </dsp:txBody>
      <dsp:txXfrm>
        <a:off x="6101689" y="278353"/>
        <a:ext cx="1076606" cy="7177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419286-34C0-44FF-9CC3-91F3A9E00B1F}">
      <dsp:nvSpPr>
        <dsp:cNvPr id="0" name=""/>
        <dsp:cNvSpPr/>
      </dsp:nvSpPr>
      <dsp:spPr>
        <a:xfrm>
          <a:off x="0" y="278353"/>
          <a:ext cx="1794343" cy="717737"/>
        </a:xfrm>
        <a:prstGeom prst="homePlate">
          <a:avLst/>
        </a:prstGeom>
        <a:solidFill>
          <a:srgbClr val="D9E1F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tx1"/>
              </a:solidFill>
              <a:latin typeface="HP Simplified Light" panose="020B0404020204020204" pitchFamily="34" charset="0"/>
            </a:rPr>
            <a:t>1-Idea</a:t>
          </a:r>
        </a:p>
      </dsp:txBody>
      <dsp:txXfrm>
        <a:off x="0" y="278353"/>
        <a:ext cx="1614909" cy="717737"/>
      </dsp:txXfrm>
    </dsp:sp>
    <dsp:sp modelId="{4CC8C089-B299-4E91-B3A6-DA965E41ED97}">
      <dsp:nvSpPr>
        <dsp:cNvPr id="0" name=""/>
        <dsp:cNvSpPr/>
      </dsp:nvSpPr>
      <dsp:spPr>
        <a:xfrm>
          <a:off x="1436395" y="278353"/>
          <a:ext cx="1794343" cy="717737"/>
        </a:xfrm>
        <a:prstGeom prst="chevron">
          <a:avLst/>
        </a:prstGeom>
        <a:solidFill>
          <a:srgbClr val="B4C6E7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tx1"/>
              </a:solidFill>
              <a:latin typeface="HP Simplified Light" panose="020B0404020204020204" pitchFamily="34" charset="0"/>
            </a:rPr>
            <a:t>2-Design</a:t>
          </a:r>
        </a:p>
      </dsp:txBody>
      <dsp:txXfrm>
        <a:off x="1795264" y="278353"/>
        <a:ext cx="1076606" cy="717737"/>
      </dsp:txXfrm>
    </dsp:sp>
    <dsp:sp modelId="{4638E16E-9292-4C30-98A8-67FAD728C540}">
      <dsp:nvSpPr>
        <dsp:cNvPr id="0" name=""/>
        <dsp:cNvSpPr/>
      </dsp:nvSpPr>
      <dsp:spPr>
        <a:xfrm>
          <a:off x="2871870" y="278353"/>
          <a:ext cx="1794343" cy="717737"/>
        </a:xfrm>
        <a:prstGeom prst="chevron">
          <a:avLst/>
        </a:prstGeom>
        <a:solidFill>
          <a:srgbClr val="8EA9DB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solidFill>
                <a:schemeClr val="tx1"/>
              </a:solidFill>
              <a:latin typeface="HP Simplified Light" panose="020B0404020204020204" pitchFamily="34" charset="0"/>
            </a:rPr>
            <a:t>3-Develop</a:t>
          </a:r>
        </a:p>
      </dsp:txBody>
      <dsp:txXfrm>
        <a:off x="3230739" y="278353"/>
        <a:ext cx="1076606" cy="717737"/>
      </dsp:txXfrm>
    </dsp:sp>
    <dsp:sp modelId="{41C74D88-9E5D-40AC-B8E4-75A7BA8D5038}">
      <dsp:nvSpPr>
        <dsp:cNvPr id="0" name=""/>
        <dsp:cNvSpPr/>
      </dsp:nvSpPr>
      <dsp:spPr>
        <a:xfrm>
          <a:off x="4307345" y="278353"/>
          <a:ext cx="1794343" cy="717737"/>
        </a:xfrm>
        <a:prstGeom prst="chevron">
          <a:avLst/>
        </a:prstGeom>
        <a:solidFill>
          <a:srgbClr val="30549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HP Simplified Light" panose="020B0404020204020204" pitchFamily="34" charset="0"/>
            </a:rPr>
            <a:t>4-Deploy</a:t>
          </a:r>
        </a:p>
      </dsp:txBody>
      <dsp:txXfrm>
        <a:off x="4666214" y="278353"/>
        <a:ext cx="1076606" cy="717737"/>
      </dsp:txXfrm>
    </dsp:sp>
    <dsp:sp modelId="{87ABA04C-681A-4D0F-A9EC-A0DFE9C9193F}">
      <dsp:nvSpPr>
        <dsp:cNvPr id="0" name=""/>
        <dsp:cNvSpPr/>
      </dsp:nvSpPr>
      <dsp:spPr>
        <a:xfrm>
          <a:off x="5742820" y="278353"/>
          <a:ext cx="1794343" cy="717737"/>
        </a:xfrm>
        <a:prstGeom prst="chevron">
          <a:avLst/>
        </a:prstGeom>
        <a:solidFill>
          <a:srgbClr val="20376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HP Simplified Light" panose="020B0404020204020204" pitchFamily="34" charset="0"/>
            </a:rPr>
            <a:t>5-Improve</a:t>
          </a:r>
        </a:p>
      </dsp:txBody>
      <dsp:txXfrm>
        <a:off x="6101689" y="278353"/>
        <a:ext cx="1076606" cy="7177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HP Simplified"/>
                <a:cs typeface="HP Simplified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HP Simplified"/>
                <a:cs typeface="HP Simplified"/>
              </a:defRPr>
            </a:lvl1pPr>
          </a:lstStyle>
          <a:p>
            <a:pPr>
              <a:defRPr/>
            </a:pPr>
            <a:fld id="{2296017B-A868-4ED5-B801-BF17075BE77E}" type="datetimeFigureOut">
              <a:rPr lang="en-US"/>
              <a:pPr>
                <a:defRPr/>
              </a:pPr>
              <a:t>10/16/2025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HP Simplified"/>
                <a:cs typeface="HP Simplified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HP Simplified"/>
                <a:cs typeface="HP Simplified"/>
              </a:defRPr>
            </a:lvl1pPr>
          </a:lstStyle>
          <a:p>
            <a:pPr>
              <a:defRPr/>
            </a:pPr>
            <a:fld id="{FC3CECD2-F941-4198-848B-D2D65F13A28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189268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HP Simplified"/>
                <a:cs typeface="HP Simplified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HP Simplified"/>
                <a:cs typeface="HP Simplified"/>
              </a:defRPr>
            </a:lvl1pPr>
          </a:lstStyle>
          <a:p>
            <a:pPr>
              <a:defRPr/>
            </a:pPr>
            <a:fld id="{BDC7CD36-ACE9-470A-B7DF-26B00103FE84}" type="datetimeFigureOut">
              <a:rPr lang="en-US"/>
              <a:pPr>
                <a:defRPr/>
              </a:pPr>
              <a:t>10/16/2025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HP Simplified"/>
                <a:cs typeface="HP Simplified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HP Simplified"/>
                <a:cs typeface="HP Simplified"/>
              </a:defRPr>
            </a:lvl1pPr>
          </a:lstStyle>
          <a:p>
            <a:pPr>
              <a:defRPr/>
            </a:pPr>
            <a:fld id="{8F81157E-C569-4568-A1DF-453410C0BC6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00277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064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HP Simplified"/>
        <a:ea typeface="HP Simplified" pitchFamily="34" charset="0"/>
        <a:cs typeface="HP Simplified"/>
      </a:defRPr>
    </a:lvl1pPr>
    <a:lvl2pPr marL="457064" algn="l" defTabSz="457064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HP Simplified"/>
        <a:ea typeface="HP Simplified" pitchFamily="34" charset="0"/>
        <a:cs typeface="HP Simplified"/>
      </a:defRPr>
    </a:lvl2pPr>
    <a:lvl3pPr marL="914140" algn="l" defTabSz="457064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HP Simplified"/>
        <a:ea typeface="HP Simplified" pitchFamily="34" charset="0"/>
        <a:cs typeface="HP Simplified"/>
      </a:defRPr>
    </a:lvl3pPr>
    <a:lvl4pPr marL="1371206" algn="l" defTabSz="457064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HP Simplified"/>
        <a:ea typeface="HP Simplified" pitchFamily="34" charset="0"/>
        <a:cs typeface="HP Simplified"/>
      </a:defRPr>
    </a:lvl4pPr>
    <a:lvl5pPr marL="1828277" algn="l" defTabSz="457064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HP Simplified"/>
        <a:ea typeface="HP Simplified" pitchFamily="34" charset="0"/>
        <a:cs typeface="HP Simplified"/>
      </a:defRPr>
    </a:lvl5pPr>
    <a:lvl6pPr marL="2285341" algn="l" defTabSz="4570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405" algn="l" defTabSz="4570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475" algn="l" defTabSz="4570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543" algn="l" defTabSz="45706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DEA7F-36EE-4EA3-A733-26457C40BB9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807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7C0086-AB0F-428D-86B3-13138DFA3613}" type="slidenum">
              <a:rPr lang="en-GB">
                <a:solidFill>
                  <a:prstClr val="black"/>
                </a:solidFill>
                <a:latin typeface="Calibri"/>
              </a:rPr>
              <a:pPr>
                <a:defRPr/>
              </a:pPr>
              <a:t>3</a:t>
            </a:fld>
            <a:endParaRPr lang="en-GB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37200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with Picture 3">
    <p:bg bwMode="ltGray"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38D149DF-2204-44D8-8762-3F4EED5656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50875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38D149DF-2204-44D8-8762-3F4EED5656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C6A7DDBA-DEBD-49FC-A710-57AE0B10460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800" b="1" i="0" baseline="0">
              <a:latin typeface="HP Simplified Light" panose="020B0404020204020204" pitchFamily="34" charset="0"/>
              <a:sym typeface="HP Simplified Light" panose="020B0404020204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314700"/>
            <a:ext cx="6858000" cy="891540"/>
          </a:xfrm>
        </p:spPr>
        <p:txBody>
          <a:bodyPr>
            <a:noAutofit/>
          </a:bodyPr>
          <a:lstStyle>
            <a:lvl1pPr marL="0" indent="0" algn="l">
              <a:spcBef>
                <a:spcPts val="450"/>
              </a:spcBef>
              <a:buNone/>
              <a:defRPr sz="1650">
                <a:solidFill>
                  <a:schemeClr val="tx1"/>
                </a:solidFill>
                <a:latin typeface="HP Simplified Light" panose="020B0404020204020204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0775" y="3929568"/>
            <a:ext cx="1011885" cy="1011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758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95BCD38-D230-4E11-B9F4-BCB8D85C5A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87598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95BCD38-D230-4E11-B9F4-BCB8D85C5A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ADDF807-AC0E-4CCD-8156-42DF16E24A2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800" b="1" i="0" baseline="0">
              <a:latin typeface="HP Simplified Light" panose="020B0404020204020204" pitchFamily="34" charset="0"/>
              <a:sym typeface="HP Simplified Light" panose="020B0404020204020204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 bwMode="black">
          <a:xfrm>
            <a:off x="331470" y="235065"/>
            <a:ext cx="8117206" cy="430887"/>
          </a:xfrm>
        </p:spPr>
        <p:txBody>
          <a:bodyPr>
            <a:noAutofit/>
          </a:bodyPr>
          <a:lstStyle>
            <a:lvl1pPr>
              <a:defRPr b="1" i="0">
                <a:solidFill>
                  <a:srgbClr val="000000"/>
                </a:solidFill>
                <a:latin typeface="HP Simplified Light" panose="020B0404020204020204" pitchFamily="34" charset="0"/>
                <a:cs typeface="HP Simplified Light" panose="020B04040202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0918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348905" y="4746601"/>
            <a:ext cx="182186" cy="1248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>
            <a:lvl1pPr>
              <a:defRPr lang="en-US" sz="630" smtClean="0">
                <a:solidFill>
                  <a:srgbClr val="C2C2C2"/>
                </a:solidFill>
                <a:latin typeface="Futura Bk"/>
              </a:defRPr>
            </a:lvl1pPr>
          </a:lstStyle>
          <a:p>
            <a:pPr marL="171720" indent="-171720">
              <a:lnSpc>
                <a:spcPts val="900"/>
              </a:lnSpc>
            </a:pPr>
            <a:fld id="{33088DE5-1DDF-C242-AF39-BA25983D68D6}" type="slidenum">
              <a:rPr/>
              <a:pPr marL="171720" indent="-171720">
                <a:lnSpc>
                  <a:spcPts val="900"/>
                </a:lnSpc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30666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845739604"/>
              </p:ext>
            </p:extLst>
          </p:nvPr>
        </p:nvGraphicFramePr>
        <p:xfrm>
          <a:off x="1589" y="1590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270" imgH="270" progId="TCLayout.ActiveDocument.1">
                  <p:embed/>
                </p:oleObj>
              </mc:Choice>
              <mc:Fallback>
                <p:oleObj name="think-cell Slide" r:id="rId7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8FD55E0-A47E-4120-85EB-BC1F5415634F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800" b="1" i="0" baseline="0">
              <a:latin typeface="HP Simplified Light" panose="020B0404020204020204" pitchFamily="34" charset="0"/>
              <a:sym typeface="HP Simplified Light" panose="020B0404020204020204" pitchFamily="34" charset="0"/>
            </a:endParaRPr>
          </a:p>
        </p:txBody>
      </p:sp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black">
          <a:xfrm>
            <a:off x="328623" y="234959"/>
            <a:ext cx="8123237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6"/>
          <p:cNvSpPr>
            <a:spLocks noGrp="1"/>
          </p:cNvSpPr>
          <p:nvPr>
            <p:ph type="body" idx="1"/>
          </p:nvPr>
        </p:nvSpPr>
        <p:spPr bwMode="black">
          <a:xfrm>
            <a:off x="330210" y="1189038"/>
            <a:ext cx="8120063" cy="321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TextBox 8"/>
          <p:cNvSpPr txBox="1">
            <a:spLocks noChangeArrowheads="1"/>
          </p:cNvSpPr>
          <p:nvPr/>
        </p:nvSpPr>
        <p:spPr bwMode="auto">
          <a:xfrm>
            <a:off x="444505" y="4759325"/>
            <a:ext cx="80121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2" tIns="45711" rIns="91422" bIns="45711"/>
          <a:lstStyle>
            <a:lvl1pPr>
              <a:defRPr>
                <a:solidFill>
                  <a:schemeClr val="tx1"/>
                </a:solidFill>
                <a:latin typeface="HP Simplified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P Simplified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P Simplified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P Simplified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P Simplified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P Simplified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P Simplified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P Simplified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P Simplified" pitchFamily="34" charset="0"/>
              </a:defRPr>
            </a:lvl9pPr>
          </a:lstStyle>
          <a:p>
            <a:r>
              <a:rPr lang="en-US" sz="700">
                <a:solidFill>
                  <a:srgbClr val="B9B8BB"/>
                </a:solidFill>
                <a:ea typeface="HP Simplified" pitchFamily="34" charset="0"/>
                <a:cs typeface="HP Simplified" pitchFamily="34" charset="0"/>
              </a:rPr>
              <a:t>HP Proprietary Confidential</a:t>
            </a:r>
          </a:p>
        </p:txBody>
      </p:sp>
      <p:sp>
        <p:nvSpPr>
          <p:cNvPr id="1029" name="TextBox 7"/>
          <p:cNvSpPr txBox="1">
            <a:spLocks noChangeArrowheads="1"/>
          </p:cNvSpPr>
          <p:nvPr/>
        </p:nvSpPr>
        <p:spPr bwMode="gray">
          <a:xfrm>
            <a:off x="328613" y="4787910"/>
            <a:ext cx="323850" cy="14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45711" rIns="91422" bIns="45711" anchor="ctr"/>
          <a:lstStyle>
            <a:lvl1pPr>
              <a:defRPr>
                <a:solidFill>
                  <a:schemeClr val="tx1"/>
                </a:solidFill>
                <a:latin typeface="HP Simplified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P Simplified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P Simplified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P Simplified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P Simplified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P Simplified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P Simplified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P Simplified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P Simplified" pitchFamily="34" charset="0"/>
              </a:defRPr>
            </a:lvl9pPr>
          </a:lstStyle>
          <a:p>
            <a:pPr defTabSz="914198"/>
            <a:fld id="{F92F37B5-7E61-4EFA-AF1D-0D7832BDE63B}" type="slidenum">
              <a:rPr lang="en-US" sz="700">
                <a:solidFill>
                  <a:srgbClr val="B9B8BB"/>
                </a:solidFill>
                <a:ea typeface="HP Simplified" pitchFamily="34" charset="0"/>
                <a:cs typeface="HP Simplified" pitchFamily="34" charset="0"/>
              </a:rPr>
              <a:pPr defTabSz="914198"/>
              <a:t>‹#›</a:t>
            </a:fld>
            <a:endParaRPr lang="en-US" sz="700">
              <a:solidFill>
                <a:srgbClr val="B9B8BB"/>
              </a:solidFill>
              <a:ea typeface="HP Simplified" pitchFamily="34" charset="0"/>
              <a:cs typeface="HP Simplifie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3152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278" r:id="rId1"/>
    <p:sldLayoutId id="2147485233" r:id="rId2"/>
    <p:sldLayoutId id="2147485241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457094" rtl="0" fontAlgn="base">
        <a:spcBef>
          <a:spcPct val="0"/>
        </a:spcBef>
        <a:spcAft>
          <a:spcPct val="0"/>
        </a:spcAft>
        <a:defRPr lang="en-GB" sz="2800" b="1" kern="1200" dirty="0">
          <a:solidFill>
            <a:srgbClr val="000000"/>
          </a:solidFill>
          <a:latin typeface="HP Simplified Light" panose="020B0404020204020204" pitchFamily="34" charset="0"/>
          <a:ea typeface="HP Simplified Light" panose="020B0404020204020204" pitchFamily="34" charset="0"/>
          <a:cs typeface="HP Simplified Light" panose="020B0404020204020204" pitchFamily="34" charset="0"/>
        </a:defRPr>
      </a:lvl1pPr>
      <a:lvl2pPr algn="l" defTabSz="457094" rtl="0" fontAlgn="base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HP Simplified" pitchFamily="34" charset="0"/>
          <a:ea typeface="HP Simplified" pitchFamily="34" charset="0"/>
          <a:cs typeface="HP Simplified" pitchFamily="34" charset="0"/>
        </a:defRPr>
      </a:lvl2pPr>
      <a:lvl3pPr algn="l" defTabSz="457094" rtl="0" fontAlgn="base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HP Simplified" pitchFamily="34" charset="0"/>
          <a:ea typeface="HP Simplified" pitchFamily="34" charset="0"/>
          <a:cs typeface="HP Simplified" pitchFamily="34" charset="0"/>
        </a:defRPr>
      </a:lvl3pPr>
      <a:lvl4pPr algn="l" defTabSz="457094" rtl="0" fontAlgn="base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HP Simplified" pitchFamily="34" charset="0"/>
          <a:ea typeface="HP Simplified" pitchFamily="34" charset="0"/>
          <a:cs typeface="HP Simplified" pitchFamily="34" charset="0"/>
        </a:defRPr>
      </a:lvl4pPr>
      <a:lvl5pPr algn="l" defTabSz="457094" rtl="0" fontAlgn="base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HP Simplified" pitchFamily="34" charset="0"/>
          <a:ea typeface="HP Simplified" pitchFamily="34" charset="0"/>
          <a:cs typeface="HP Simplified" pitchFamily="34" charset="0"/>
        </a:defRPr>
      </a:lvl5pPr>
      <a:lvl6pPr marL="457094" algn="l" defTabSz="457094" rtl="0" fontAlgn="base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HP Simplified" pitchFamily="34" charset="0"/>
          <a:ea typeface="HP Simplified" pitchFamily="34" charset="0"/>
          <a:cs typeface="HP Simplified" pitchFamily="34" charset="0"/>
        </a:defRPr>
      </a:lvl6pPr>
      <a:lvl7pPr marL="914198" algn="l" defTabSz="457094" rtl="0" fontAlgn="base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HP Simplified" pitchFamily="34" charset="0"/>
          <a:ea typeface="HP Simplified" pitchFamily="34" charset="0"/>
          <a:cs typeface="HP Simplified" pitchFamily="34" charset="0"/>
        </a:defRPr>
      </a:lvl7pPr>
      <a:lvl8pPr marL="1371294" algn="l" defTabSz="457094" rtl="0" fontAlgn="base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HP Simplified" pitchFamily="34" charset="0"/>
          <a:ea typeface="HP Simplified" pitchFamily="34" charset="0"/>
          <a:cs typeface="HP Simplified" pitchFamily="34" charset="0"/>
        </a:defRPr>
      </a:lvl8pPr>
      <a:lvl9pPr marL="1828394" algn="l" defTabSz="457094" rtl="0" fontAlgn="base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HP Simplified" pitchFamily="34" charset="0"/>
          <a:ea typeface="HP Simplified" pitchFamily="34" charset="0"/>
          <a:cs typeface="HP Simplified" pitchFamily="34" charset="0"/>
        </a:defRPr>
      </a:lvl9pPr>
    </p:titleStyle>
    <p:bodyStyle>
      <a:lvl1pPr algn="l" defTabSz="457094" rtl="0" fontAlgn="base">
        <a:spcBef>
          <a:spcPct val="0"/>
        </a:spcBef>
        <a:spcAft>
          <a:spcPts val="400"/>
        </a:spcAft>
        <a:buSzPct val="100000"/>
        <a:buFont typeface="Arial" pitchFamily="34" charset="0"/>
        <a:defRPr b="1" kern="1200">
          <a:solidFill>
            <a:schemeClr val="accent1"/>
          </a:solidFill>
          <a:latin typeface="HP Simplified Light" panose="020B0404020204020204" pitchFamily="34" charset="0"/>
          <a:ea typeface="HP Simplified Light" panose="020B0404020204020204" pitchFamily="34" charset="0"/>
          <a:cs typeface="HP Simplified Light" panose="020B0404020204020204" pitchFamily="34" charset="0"/>
        </a:defRPr>
      </a:lvl1pPr>
      <a:lvl2pPr algn="l" defTabSz="430118" rtl="0" fontAlgn="base">
        <a:spcBef>
          <a:spcPct val="0"/>
        </a:spcBef>
        <a:spcAft>
          <a:spcPts val="400"/>
        </a:spcAft>
        <a:buSzPct val="100000"/>
        <a:buFont typeface="Lucida Grande"/>
        <a:defRPr sz="1600" kern="1200">
          <a:solidFill>
            <a:srgbClr val="000000"/>
          </a:solidFill>
          <a:latin typeface="HP Simplified Light" panose="020B0404020204020204" pitchFamily="34" charset="0"/>
          <a:ea typeface="HP Simplified Light" panose="020B0404020204020204" pitchFamily="34" charset="0"/>
          <a:cs typeface="HP Simplified Light" panose="020B0404020204020204" pitchFamily="34" charset="0"/>
        </a:defRPr>
      </a:lvl2pPr>
      <a:lvl3pPr marL="169827" indent="-169827" algn="l" defTabSz="457094" rtl="0" fontAlgn="base">
        <a:spcBef>
          <a:spcPct val="0"/>
        </a:spcBef>
        <a:spcAft>
          <a:spcPts val="400"/>
        </a:spcAft>
        <a:buFont typeface="HP Simplified" pitchFamily="34" charset="0"/>
        <a:buChar char="•"/>
        <a:defRPr sz="1400" kern="1200">
          <a:solidFill>
            <a:srgbClr val="000000"/>
          </a:solidFill>
          <a:latin typeface="HP Simplified Light" panose="020B0404020204020204" pitchFamily="34" charset="0"/>
          <a:ea typeface="HP Simplified Light" panose="020B0404020204020204" pitchFamily="34" charset="0"/>
          <a:cs typeface="HP Simplified Light" panose="020B0404020204020204" pitchFamily="34" charset="0"/>
        </a:defRPr>
      </a:lvl3pPr>
      <a:lvl4pPr marL="341234" indent="-180935" algn="l" defTabSz="457094" rtl="0" fontAlgn="base">
        <a:spcBef>
          <a:spcPct val="0"/>
        </a:spcBef>
        <a:spcAft>
          <a:spcPts val="400"/>
        </a:spcAft>
        <a:buSzPct val="80000"/>
        <a:buFont typeface="HP Simplified" pitchFamily="34" charset="0"/>
        <a:buChar char="–"/>
        <a:defRPr lang="en-US" sz="1400" kern="1200" dirty="0">
          <a:solidFill>
            <a:srgbClr val="000000"/>
          </a:solidFill>
          <a:latin typeface="HP Simplified Light" panose="020B0404020204020204" pitchFamily="34" charset="0"/>
          <a:ea typeface="HP Simplified Light" panose="020B0404020204020204" pitchFamily="34" charset="0"/>
          <a:cs typeface="HP Simplified Light" panose="020B0404020204020204" pitchFamily="34" charset="0"/>
        </a:defRPr>
      </a:lvl4pPr>
      <a:lvl5pPr marL="469793" indent="-150785" algn="l" defTabSz="457094" rtl="0" fontAlgn="base">
        <a:spcBef>
          <a:spcPct val="0"/>
        </a:spcBef>
        <a:spcAft>
          <a:spcPts val="400"/>
        </a:spcAft>
        <a:buFont typeface="HP Simplified" pitchFamily="34" charset="0"/>
        <a:buChar char="•"/>
        <a:defRPr sz="1400" kern="1200">
          <a:solidFill>
            <a:srgbClr val="000000"/>
          </a:solidFill>
          <a:latin typeface="HP Simplified Light" panose="020B0404020204020204" pitchFamily="34" charset="0"/>
          <a:ea typeface="HP Simplified Light" panose="020B0404020204020204" pitchFamily="34" charset="0"/>
          <a:cs typeface="HP Simplified Light" panose="020B0404020204020204" pitchFamily="34" charset="0"/>
        </a:defRPr>
      </a:lvl5pPr>
      <a:lvl6pPr marL="2285487" indent="0" algn="l" defTabSz="457094" rtl="0" eaLnBrk="1" latinLnBrk="0" hangingPunct="1">
        <a:lnSpc>
          <a:spcPts val="2500"/>
        </a:lnSpc>
        <a:spcBef>
          <a:spcPct val="20000"/>
        </a:spcBef>
        <a:buFont typeface="Arial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34" indent="-228546" algn="l" defTabSz="45709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231" indent="-228546" algn="l" defTabSz="45709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327" indent="-228546" algn="l" defTabSz="45709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9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94" algn="l" defTabSz="45709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98" algn="l" defTabSz="45709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94" algn="l" defTabSz="45709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94" algn="l" defTabSz="45709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87" algn="l" defTabSz="45709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81" algn="l" defTabSz="45709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80" algn="l" defTabSz="45709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777" algn="l" defTabSz="45709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5.bin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6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oleObject" Target="../embeddings/oleObject6.bin"/><Relationship Id="rId7" Type="http://schemas.openxmlformats.org/officeDocument/2006/relationships/diagramQuickStyle" Target="../diagrams/quickStyl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3.emf"/><Relationship Id="rId9" Type="http://schemas.microsoft.com/office/2007/relationships/diagramDrawing" Target="../diagrams/drawing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oleObject" Target="../embeddings/oleObject7.bin"/><Relationship Id="rId7" Type="http://schemas.openxmlformats.org/officeDocument/2006/relationships/diagramQuickStyle" Target="../diagrams/quickStyl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3.emf"/><Relationship Id="rId9" Type="http://schemas.microsoft.com/office/2007/relationships/diagramDrawing" Target="../diagrams/drawin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E71382BC-EDCF-415A-8418-510ED490B02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895891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E71382BC-EDCF-415A-8418-510ED490B0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3F8C1CAC-C7E3-4844-85FA-FFC2D3EE416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US" sz="3600">
              <a:latin typeface="HP Simplified Light" panose="020B0404020204020204" pitchFamily="34" charset="0"/>
              <a:ea typeface="+mj-ea"/>
              <a:sym typeface="HP Simplified Light" panose="020B04040202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6DEE9B-0168-4074-B1D3-944A78888E95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457200" y="2072640"/>
            <a:ext cx="6858000" cy="1165860"/>
          </a:xfrm>
        </p:spPr>
        <p:txBody>
          <a:bodyPr/>
          <a:lstStyle/>
          <a:p>
            <a:r>
              <a:rPr lang="en-US" sz="3600" b="0">
                <a:solidFill>
                  <a:schemeClr val="tx1"/>
                </a:solidFill>
              </a:rPr>
              <a:t>E2E Product Management Process</a:t>
            </a:r>
            <a:br>
              <a:rPr lang="en-US" sz="3600" b="0">
                <a:solidFill>
                  <a:schemeClr val="tx1"/>
                </a:solidFill>
              </a:rPr>
            </a:br>
            <a:r>
              <a:rPr lang="en-US" sz="3600" b="0">
                <a:solidFill>
                  <a:schemeClr val="tx1"/>
                </a:solidFill>
              </a:rPr>
              <a:t>High-Level Mapping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050A95-1D9C-4D35-911A-69ACF3DCEC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>
                <a:latin typeface="HP Simplified Light" panose="020B0404020204020204" pitchFamily="34" charset="0"/>
              </a:rPr>
              <a:t>R2.2</a:t>
            </a:r>
          </a:p>
          <a:p>
            <a:r>
              <a:rPr lang="en-US">
                <a:latin typeface="HP Simplified Light" panose="020B0404020204020204" pitchFamily="34" charset="0"/>
              </a:rPr>
              <a:t>Personal Systems Services</a:t>
            </a:r>
          </a:p>
        </p:txBody>
      </p:sp>
    </p:spTree>
    <p:extLst>
      <p:ext uri="{BB962C8B-B14F-4D97-AF65-F5344CB8AC3E}">
        <p14:creationId xmlns:p14="http://schemas.microsoft.com/office/powerpoint/2010/main" val="592205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F24EB6E9-76CC-4773-BEB5-C0813830D1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355044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F24EB6E9-76CC-4773-BEB5-C0813830D1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17AC11B9-A41D-4A38-AAFE-FF9D61F205D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US" sz="2800" b="1">
              <a:latin typeface="HP Simplified Light" panose="020B0404020204020204" pitchFamily="34" charset="0"/>
              <a:sym typeface="HP Simplified Light" panose="020B0404020204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348F4-BD66-4648-9ADB-B6898A38A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211667" y="6478524"/>
            <a:ext cx="304800" cy="21945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7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DE720E-C72B-42F0-AD69-52D60E3C605E}" type="slidenum">
              <a:rPr lang="en-US" smtClean="0"/>
              <a:pPr/>
              <a:t>2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D7BD60-F310-45A6-BA40-4DD1DDBA795A}"/>
              </a:ext>
            </a:extLst>
          </p:cNvPr>
          <p:cNvCxnSpPr>
            <a:cxnSpLocks/>
          </p:cNvCxnSpPr>
          <p:nvPr/>
        </p:nvCxnSpPr>
        <p:spPr>
          <a:xfrm>
            <a:off x="1733898" y="1333774"/>
            <a:ext cx="9719" cy="1682272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DADB5A36-6AC3-4E99-9A8A-00DD22D8A5E0}"/>
              </a:ext>
            </a:extLst>
          </p:cNvPr>
          <p:cNvSpPr/>
          <p:nvPr/>
        </p:nvSpPr>
        <p:spPr>
          <a:xfrm>
            <a:off x="53683" y="996626"/>
            <a:ext cx="1498016" cy="342900"/>
          </a:xfrm>
          <a:prstGeom prst="homePlate">
            <a:avLst/>
          </a:prstGeom>
          <a:solidFill>
            <a:srgbClr val="D9E1F2"/>
          </a:solidFill>
          <a:ln w="19050" cap="flat" cmpd="sng" algn="ctr">
            <a:solidFill>
              <a:srgbClr val="D9E1F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kern="0">
                <a:latin typeface="HP Simplified Light"/>
                <a:cs typeface="+mn-cs"/>
              </a:rPr>
              <a:t>Idea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1099E741-96EE-4017-81BF-93228B2D9E07}"/>
              </a:ext>
            </a:extLst>
          </p:cNvPr>
          <p:cNvSpPr/>
          <p:nvPr/>
        </p:nvSpPr>
        <p:spPr>
          <a:xfrm>
            <a:off x="1898786" y="1010183"/>
            <a:ext cx="1498016" cy="342900"/>
          </a:xfrm>
          <a:prstGeom prst="chevron">
            <a:avLst/>
          </a:prstGeom>
          <a:solidFill>
            <a:srgbClr val="B4C6E7"/>
          </a:solidFill>
          <a:ln w="19050" cap="flat" cmpd="sng" algn="ctr">
            <a:solidFill>
              <a:srgbClr val="B4C6E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kern="0">
                <a:latin typeface="HP Simplified Light"/>
                <a:cs typeface="+mn-cs"/>
              </a:rPr>
              <a:t>Service Design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BD7BB2-41B1-4DD2-A231-9BFBD68C9603}"/>
              </a:ext>
            </a:extLst>
          </p:cNvPr>
          <p:cNvSpPr txBox="1"/>
          <p:nvPr/>
        </p:nvSpPr>
        <p:spPr>
          <a:xfrm>
            <a:off x="1490115" y="990355"/>
            <a:ext cx="522121" cy="2357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6858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750" b="1" kern="0"/>
          </a:p>
          <a:p>
            <a:pPr algn="ctr" defTabSz="6858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50" b="1" kern="0">
                <a:latin typeface="HP Simplified Light" panose="020B0404020204020204" pitchFamily="34" charset="0"/>
              </a:rPr>
              <a:t>Ideation Forum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1C08E0F-5883-407F-8F70-CA3746E543D5}"/>
              </a:ext>
            </a:extLst>
          </p:cNvPr>
          <p:cNvCxnSpPr>
            <a:cxnSpLocks/>
          </p:cNvCxnSpPr>
          <p:nvPr/>
        </p:nvCxnSpPr>
        <p:spPr>
          <a:xfrm>
            <a:off x="3630866" y="1327509"/>
            <a:ext cx="9719" cy="1682272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Arrow: Chevron 31">
            <a:extLst>
              <a:ext uri="{FF2B5EF4-FFF2-40B4-BE49-F238E27FC236}">
                <a16:creationId xmlns:a16="http://schemas.microsoft.com/office/drawing/2014/main" id="{2B8D3295-3ADA-49F8-9382-330AF1C96ACB}"/>
              </a:ext>
            </a:extLst>
          </p:cNvPr>
          <p:cNvSpPr/>
          <p:nvPr/>
        </p:nvSpPr>
        <p:spPr>
          <a:xfrm>
            <a:off x="3795754" y="1003918"/>
            <a:ext cx="1498016" cy="342900"/>
          </a:xfrm>
          <a:prstGeom prst="chevron">
            <a:avLst/>
          </a:prstGeom>
          <a:solidFill>
            <a:srgbClr val="8EA9DB"/>
          </a:solidFill>
          <a:ln w="19050" cap="flat" cmpd="sng" algn="ctr">
            <a:solidFill>
              <a:srgbClr val="8EA9D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kern="0">
                <a:latin typeface="HP Simplified Light"/>
                <a:cs typeface="+mn-cs"/>
              </a:rPr>
              <a:t>Service Development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1664826-905C-4F69-923D-2295930BFA05}"/>
              </a:ext>
            </a:extLst>
          </p:cNvPr>
          <p:cNvSpPr txBox="1"/>
          <p:nvPr/>
        </p:nvSpPr>
        <p:spPr>
          <a:xfrm>
            <a:off x="3352529" y="984091"/>
            <a:ext cx="556675" cy="2357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6858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750" b="1" kern="0">
              <a:solidFill>
                <a:schemeClr val="bg1"/>
              </a:solidFill>
            </a:endParaRPr>
          </a:p>
          <a:p>
            <a:pPr algn="ctr" defTabSz="6858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50" b="1" kern="0">
                <a:latin typeface="HP Simplified Light" panose="020B0404020204020204" pitchFamily="34" charset="0"/>
              </a:rPr>
              <a:t>Exec Checkpoint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8A31B47-F5BD-46E7-AE57-D483364B5CFE}"/>
              </a:ext>
            </a:extLst>
          </p:cNvPr>
          <p:cNvCxnSpPr>
            <a:cxnSpLocks/>
          </p:cNvCxnSpPr>
          <p:nvPr/>
        </p:nvCxnSpPr>
        <p:spPr>
          <a:xfrm>
            <a:off x="5527834" y="1320053"/>
            <a:ext cx="9719" cy="1682272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Arrow: Chevron 34">
            <a:extLst>
              <a:ext uri="{FF2B5EF4-FFF2-40B4-BE49-F238E27FC236}">
                <a16:creationId xmlns:a16="http://schemas.microsoft.com/office/drawing/2014/main" id="{16BDB829-AE27-46E7-BCD9-2A0C57D13698}"/>
              </a:ext>
            </a:extLst>
          </p:cNvPr>
          <p:cNvSpPr/>
          <p:nvPr/>
        </p:nvSpPr>
        <p:spPr>
          <a:xfrm>
            <a:off x="5692723" y="1010183"/>
            <a:ext cx="1498016" cy="342900"/>
          </a:xfrm>
          <a:prstGeom prst="chevron">
            <a:avLst/>
          </a:prstGeom>
          <a:solidFill>
            <a:srgbClr val="305496"/>
          </a:solidFill>
          <a:ln w="19050" cap="flat" cmpd="sng" algn="ctr">
            <a:solidFill>
              <a:srgbClr val="305496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kern="0">
                <a:solidFill>
                  <a:schemeClr val="bg1"/>
                </a:solidFill>
                <a:latin typeface="HP Simplified Light"/>
                <a:cs typeface="+mn-cs"/>
              </a:rPr>
              <a:t>Service Deployment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79B96F-8843-474B-9635-99DB4FB482EE}"/>
              </a:ext>
            </a:extLst>
          </p:cNvPr>
          <p:cNvSpPr txBox="1"/>
          <p:nvPr/>
        </p:nvSpPr>
        <p:spPr>
          <a:xfrm>
            <a:off x="5249497" y="976634"/>
            <a:ext cx="556675" cy="2357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6858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50" b="1" kern="0">
                <a:solidFill>
                  <a:schemeClr val="bg1"/>
                </a:solidFill>
              </a:rPr>
              <a:t> </a:t>
            </a:r>
            <a:endParaRPr lang="en-US" sz="750" b="1" kern="0"/>
          </a:p>
          <a:p>
            <a:pPr algn="ctr" defTabSz="6858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50" b="1" kern="0">
                <a:latin typeface="HP Simplified Light" panose="020B0404020204020204" pitchFamily="34" charset="0"/>
              </a:rPr>
              <a:t>Exec Checkpoint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6FFF8A4-5EC4-4738-BFDD-43BE447359B3}"/>
              </a:ext>
            </a:extLst>
          </p:cNvPr>
          <p:cNvSpPr txBox="1"/>
          <p:nvPr/>
        </p:nvSpPr>
        <p:spPr>
          <a:xfrm>
            <a:off x="158751" y="1541207"/>
            <a:ext cx="1344356" cy="117524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28588" indent="-128588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/>
            </a:pPr>
            <a:r>
              <a:rPr lang="en-US" sz="900">
                <a:latin typeface="HP Simplified Light" panose="020B0404020204020204" pitchFamily="34" charset="0"/>
              </a:rPr>
              <a:t>Customer &amp; partner insights </a:t>
            </a:r>
          </a:p>
          <a:p>
            <a:pPr marL="128588" indent="-128588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/>
            </a:pPr>
            <a:r>
              <a:rPr lang="en-US" sz="900">
                <a:latin typeface="HP Simplified Light" panose="020B0404020204020204" pitchFamily="34" charset="0"/>
              </a:rPr>
              <a:t>Market &amp; industry trends</a:t>
            </a:r>
          </a:p>
          <a:p>
            <a:pPr marL="128588" indent="-128588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/>
            </a:pPr>
            <a:r>
              <a:rPr lang="en-US" sz="900">
                <a:latin typeface="HP Simplified Light" panose="020B0404020204020204" pitchFamily="34" charset="0"/>
              </a:rPr>
              <a:t>Idea Formulation</a:t>
            </a:r>
          </a:p>
          <a:p>
            <a:pPr marL="128588" indent="-128588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/>
            </a:pPr>
            <a:r>
              <a:rPr lang="en-US" sz="900">
                <a:latin typeface="HP Simplified Light" panose="020B0404020204020204" pitchFamily="34" charset="0"/>
              </a:rPr>
              <a:t>Strategy Assessment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8D6A501-1E13-445D-9917-805D4F6C1ED6}"/>
              </a:ext>
            </a:extLst>
          </p:cNvPr>
          <p:cNvSpPr txBox="1"/>
          <p:nvPr/>
        </p:nvSpPr>
        <p:spPr>
          <a:xfrm>
            <a:off x="677622" y="2979597"/>
            <a:ext cx="1512420" cy="69680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858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88" b="1">
                <a:latin typeface="HP Simplified Light" panose="020B0404020204020204" pitchFamily="34" charset="0"/>
              </a:rPr>
              <a:t>Product Summit:</a:t>
            </a:r>
          </a:p>
          <a:p>
            <a:pPr defTabSz="6858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50">
                <a:latin typeface="HP Simplified Light" panose="020B0404020204020204" pitchFamily="34" charset="0"/>
              </a:rPr>
              <a:t>Pitch Deck presented by Product Mgmt.</a:t>
            </a:r>
          </a:p>
          <a:p>
            <a:pPr defTabSz="6858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50">
                <a:latin typeface="HP Simplified Light" panose="020B0404020204020204" pitchFamily="34" charset="0"/>
              </a:rPr>
              <a:t>Key questions answered:</a:t>
            </a:r>
          </a:p>
          <a:p>
            <a:pPr marL="128588" indent="-128588" defTabSz="6858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750">
                <a:latin typeface="HP Simplified Light" panose="020B0404020204020204" pitchFamily="34" charset="0"/>
                <a:cs typeface="+mn-cs"/>
              </a:rPr>
              <a:t>What insights are we deriving from </a:t>
            </a:r>
          </a:p>
          <a:p>
            <a:pPr marL="128588" indent="-128588" defTabSz="6858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750">
                <a:latin typeface="HP Simplified Light" panose="020B0404020204020204" pitchFamily="34" charset="0"/>
                <a:cs typeface="+mn-cs"/>
              </a:rPr>
              <a:t>our customers/partners? </a:t>
            </a:r>
          </a:p>
          <a:p>
            <a:pPr marL="128588" indent="-128588" defTabSz="6858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750">
                <a:latin typeface="HP Simplified Light" panose="020B0404020204020204" pitchFamily="34" charset="0"/>
                <a:cs typeface="+mn-cs"/>
              </a:rPr>
              <a:t>What do/will customers want?</a:t>
            </a:r>
          </a:p>
          <a:p>
            <a:pPr marL="128588" indent="-128588" defTabSz="6858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750">
                <a:latin typeface="HP Simplified Light" panose="020B0404020204020204" pitchFamily="34" charset="0"/>
                <a:cs typeface="+mn-cs"/>
              </a:rPr>
              <a:t>Is this a good idea?</a:t>
            </a:r>
          </a:p>
          <a:p>
            <a:pPr marL="128588" indent="-128588" defTabSz="6858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750">
                <a:latin typeface="HP Simplified Light" panose="020B0404020204020204" pitchFamily="34" charset="0"/>
                <a:cs typeface="+mn-cs"/>
              </a:rPr>
              <a:t>Do we want to invest in designing?</a:t>
            </a:r>
            <a:endParaRPr lang="en-US" sz="750">
              <a:latin typeface="HP Simplified Light" panose="020B0404020204020204" pitchFamily="34" charset="0"/>
            </a:endParaRPr>
          </a:p>
          <a:p>
            <a:pPr defTabSz="6858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50">
                <a:latin typeface="HP Simplified Light" panose="020B0404020204020204" pitchFamily="34" charset="0"/>
                <a:cs typeface="+mn-cs"/>
              </a:rPr>
              <a:t>If yes           move to Service Design, added to </a:t>
            </a:r>
            <a:r>
              <a:rPr lang="en-US" sz="750" b="1">
                <a:latin typeface="HP Simplified Light" panose="020B0404020204020204" pitchFamily="34" charset="0"/>
                <a:cs typeface="+mn-cs"/>
              </a:rPr>
              <a:t>POI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EB8E320-95AA-45ED-9684-6529BF86F0CD}"/>
              </a:ext>
            </a:extLst>
          </p:cNvPr>
          <p:cNvCxnSpPr>
            <a:cxnSpLocks/>
          </p:cNvCxnSpPr>
          <p:nvPr/>
        </p:nvCxnSpPr>
        <p:spPr>
          <a:xfrm>
            <a:off x="7372807" y="1339526"/>
            <a:ext cx="9719" cy="1682272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Arrow: Chevron 41">
            <a:extLst>
              <a:ext uri="{FF2B5EF4-FFF2-40B4-BE49-F238E27FC236}">
                <a16:creationId xmlns:a16="http://schemas.microsoft.com/office/drawing/2014/main" id="{7F8974F7-D061-4C20-9222-A51DA466FF28}"/>
              </a:ext>
            </a:extLst>
          </p:cNvPr>
          <p:cNvSpPr/>
          <p:nvPr/>
        </p:nvSpPr>
        <p:spPr>
          <a:xfrm>
            <a:off x="7624245" y="1010183"/>
            <a:ext cx="1498016" cy="342900"/>
          </a:xfrm>
          <a:prstGeom prst="chevron">
            <a:avLst/>
          </a:prstGeom>
          <a:solidFill>
            <a:srgbClr val="203764"/>
          </a:solidFill>
          <a:ln w="19050" cap="flat" cmpd="sng" algn="ctr">
            <a:solidFill>
              <a:srgbClr val="20376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kern="0">
                <a:solidFill>
                  <a:schemeClr val="bg1"/>
                </a:solidFill>
                <a:latin typeface="HP Simplified Light"/>
                <a:cs typeface="+mn-cs"/>
              </a:rPr>
              <a:t>Continual Service Improvement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F4ACC87-51EB-4A80-86BA-5D98C71F10A2}"/>
              </a:ext>
            </a:extLst>
          </p:cNvPr>
          <p:cNvCxnSpPr>
            <a:cxnSpLocks/>
          </p:cNvCxnSpPr>
          <p:nvPr/>
        </p:nvCxnSpPr>
        <p:spPr>
          <a:xfrm>
            <a:off x="936520" y="3852339"/>
            <a:ext cx="95865" cy="0"/>
          </a:xfrm>
          <a:prstGeom prst="straightConnector1">
            <a:avLst/>
          </a:prstGeom>
          <a:ln w="1905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34FDB52-AE7C-482D-B56B-D9475AD294B6}"/>
              </a:ext>
            </a:extLst>
          </p:cNvPr>
          <p:cNvSpPr txBox="1"/>
          <p:nvPr/>
        </p:nvSpPr>
        <p:spPr>
          <a:xfrm>
            <a:off x="2052446" y="1541207"/>
            <a:ext cx="1344356" cy="117524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28588" indent="-128588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/>
            </a:pPr>
            <a:r>
              <a:rPr lang="en-US" sz="900">
                <a:latin typeface="HP Simplified Light" panose="020B0404020204020204" pitchFamily="34" charset="0"/>
              </a:rPr>
              <a:t>Project Plan via Modular WBS</a:t>
            </a:r>
          </a:p>
          <a:p>
            <a:pPr marL="128588" indent="-128588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/>
            </a:pPr>
            <a:r>
              <a:rPr lang="en-US" sz="900">
                <a:latin typeface="HP Simplified Light" panose="020B0404020204020204" pitchFamily="34" charset="0"/>
              </a:rPr>
              <a:t>E2E Service Design Document</a:t>
            </a:r>
          </a:p>
          <a:p>
            <a:pPr marL="128588" indent="-128588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/>
            </a:pPr>
            <a:r>
              <a:rPr lang="en-US" sz="900">
                <a:latin typeface="HP Simplified Light" panose="020B0404020204020204" pitchFamily="34" charset="0"/>
              </a:rPr>
              <a:t>Define Value Chain</a:t>
            </a:r>
          </a:p>
          <a:p>
            <a:pPr marL="128588" indent="-128588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/>
            </a:pPr>
            <a:r>
              <a:rPr lang="en-US" sz="900">
                <a:latin typeface="HP Simplified Light" panose="020B0404020204020204" pitchFamily="34" charset="0"/>
              </a:rPr>
              <a:t>Feasibility Analysis</a:t>
            </a:r>
          </a:p>
          <a:p>
            <a:pPr marL="128588" indent="-128588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/>
            </a:pPr>
            <a:r>
              <a:rPr lang="en-US" sz="900">
                <a:latin typeface="HP Simplified Light" panose="020B0404020204020204" pitchFamily="34" charset="0"/>
              </a:rPr>
              <a:t>Service Pre-build</a:t>
            </a:r>
          </a:p>
          <a:p>
            <a:pPr marL="128588" indent="-128588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/>
            </a:pPr>
            <a:r>
              <a:rPr lang="en-US" sz="900">
                <a:latin typeface="HP Simplified Light" panose="020B0404020204020204" pitchFamily="34" charset="0"/>
              </a:rPr>
              <a:t>Rapid Prototype feedback</a:t>
            </a:r>
          </a:p>
          <a:p>
            <a:pPr marL="128588" indent="-128588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/>
            </a:pPr>
            <a:endParaRPr lang="en-US" sz="900">
              <a:latin typeface="HP Simplified Light" panose="020B0404020204020204" pitchFamily="34" charset="0"/>
            </a:endParaRPr>
          </a:p>
          <a:p>
            <a:pPr marL="128588" indent="-128588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/>
            </a:pPr>
            <a:endParaRPr lang="en-US" sz="900">
              <a:latin typeface="HP Simplified Light" panose="020B0404020204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5C1548B-C9DE-4752-AFAB-69152473AF30}"/>
              </a:ext>
            </a:extLst>
          </p:cNvPr>
          <p:cNvSpPr txBox="1"/>
          <p:nvPr/>
        </p:nvSpPr>
        <p:spPr>
          <a:xfrm>
            <a:off x="2640592" y="2979596"/>
            <a:ext cx="1512420" cy="69680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858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88" b="1">
                <a:latin typeface="HP Simplified Light" panose="020B0404020204020204" pitchFamily="34" charset="0"/>
              </a:rPr>
              <a:t>Exec Checkpoint:</a:t>
            </a:r>
          </a:p>
          <a:p>
            <a:pPr defTabSz="6858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50">
                <a:latin typeface="HP Simplified Light" panose="020B0404020204020204" pitchFamily="34" charset="0"/>
              </a:rPr>
              <a:t>Service Design presented</a:t>
            </a:r>
          </a:p>
          <a:p>
            <a:pPr defTabSz="6858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50">
                <a:latin typeface="HP Simplified Light" panose="020B0404020204020204" pitchFamily="34" charset="0"/>
              </a:rPr>
              <a:t>Key questions answered:</a:t>
            </a:r>
          </a:p>
          <a:p>
            <a:pPr marL="128588" indent="-128588" defTabSz="6858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750">
                <a:latin typeface="HP Simplified Light" panose="020B0404020204020204" pitchFamily="34" charset="0"/>
              </a:rPr>
              <a:t>Should we/could we build this?</a:t>
            </a:r>
          </a:p>
          <a:p>
            <a:pPr marL="128588" indent="-128588" defTabSz="6858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750">
                <a:latin typeface="HP Simplified Light" panose="020B0404020204020204" pitchFamily="34" charset="0"/>
                <a:cs typeface="+mn-cs"/>
              </a:rPr>
              <a:t>Do we want to invest in developing?</a:t>
            </a:r>
            <a:endParaRPr lang="en-US" sz="750">
              <a:latin typeface="HP Simplified Light" panose="020B0404020204020204" pitchFamily="34" charset="0"/>
            </a:endParaRPr>
          </a:p>
          <a:p>
            <a:pPr defTabSz="6858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50">
                <a:latin typeface="HP Simplified Light" panose="020B0404020204020204" pitchFamily="34" charset="0"/>
                <a:cs typeface="+mn-cs"/>
              </a:rPr>
              <a:t>If yes           move to Service Development, </a:t>
            </a:r>
          </a:p>
          <a:p>
            <a:pPr defTabSz="6858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50">
                <a:latin typeface="HP Simplified Light" panose="020B0404020204020204" pitchFamily="34" charset="0"/>
                <a:cs typeface="+mn-cs"/>
              </a:rPr>
              <a:t>added to </a:t>
            </a:r>
            <a:r>
              <a:rPr lang="en-US" sz="750" b="1">
                <a:latin typeface="HP Simplified Light" panose="020B0404020204020204" pitchFamily="34" charset="0"/>
                <a:cs typeface="+mn-cs"/>
              </a:rPr>
              <a:t>POR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C63036B-784C-4D3F-AF07-69E7C8928BD1}"/>
              </a:ext>
            </a:extLst>
          </p:cNvPr>
          <p:cNvCxnSpPr>
            <a:cxnSpLocks/>
          </p:cNvCxnSpPr>
          <p:nvPr/>
        </p:nvCxnSpPr>
        <p:spPr>
          <a:xfrm>
            <a:off x="2901752" y="3546311"/>
            <a:ext cx="95865" cy="0"/>
          </a:xfrm>
          <a:prstGeom prst="straightConnector1">
            <a:avLst/>
          </a:prstGeom>
          <a:ln w="1905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DC9A50EA-1753-4756-8A49-18CA7CAE3067}"/>
              </a:ext>
            </a:extLst>
          </p:cNvPr>
          <p:cNvSpPr txBox="1"/>
          <p:nvPr/>
        </p:nvSpPr>
        <p:spPr>
          <a:xfrm>
            <a:off x="4498124" y="2979595"/>
            <a:ext cx="1512420" cy="69680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858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88" b="1">
                <a:latin typeface="HP Simplified Light" panose="020B0404020204020204" pitchFamily="34" charset="0"/>
              </a:rPr>
              <a:t>Exec Checkpoint:</a:t>
            </a:r>
          </a:p>
          <a:p>
            <a:pPr defTabSz="6858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50">
                <a:latin typeface="HP Simplified Light" panose="020B0404020204020204" pitchFamily="34" charset="0"/>
              </a:rPr>
              <a:t>Service Development presented </a:t>
            </a:r>
          </a:p>
          <a:p>
            <a:pPr defTabSz="6858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50">
                <a:latin typeface="HP Simplified Light" panose="020B0404020204020204" pitchFamily="34" charset="0"/>
              </a:rPr>
              <a:t>Key questions answered:</a:t>
            </a:r>
          </a:p>
          <a:p>
            <a:pPr marL="128588" indent="-128588" defTabSz="6858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750">
                <a:latin typeface="HP Simplified Light" panose="020B0404020204020204" pitchFamily="34" charset="0"/>
              </a:rPr>
              <a:t>Are customers/partners satisfied with experience?</a:t>
            </a:r>
          </a:p>
          <a:p>
            <a:pPr marL="128588" indent="-128588" defTabSz="6858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750">
                <a:latin typeface="HP Simplified Light" panose="020B0404020204020204" pitchFamily="34" charset="0"/>
              </a:rPr>
              <a:t>Will it work like we thought?</a:t>
            </a:r>
          </a:p>
          <a:p>
            <a:pPr marL="128588" indent="-128588" defTabSz="6858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750">
                <a:latin typeface="HP Simplified Light" panose="020B0404020204020204" pitchFamily="34" charset="0"/>
                <a:cs typeface="+mn-cs"/>
              </a:rPr>
              <a:t>Do we want to launch this service?</a:t>
            </a:r>
            <a:endParaRPr lang="en-US" sz="750">
              <a:latin typeface="HP Simplified Light" panose="020B0404020204020204" pitchFamily="34" charset="0"/>
            </a:endParaRPr>
          </a:p>
          <a:p>
            <a:pPr defTabSz="6858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50">
                <a:latin typeface="HP Simplified Light" panose="020B0404020204020204" pitchFamily="34" charset="0"/>
                <a:cs typeface="+mn-cs"/>
              </a:rPr>
              <a:t>If yes           move to Service Deployment, launch service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57CDB11-0DB8-41BC-8C31-AFA3C9B64722}"/>
              </a:ext>
            </a:extLst>
          </p:cNvPr>
          <p:cNvCxnSpPr>
            <a:cxnSpLocks/>
          </p:cNvCxnSpPr>
          <p:nvPr/>
        </p:nvCxnSpPr>
        <p:spPr>
          <a:xfrm>
            <a:off x="4756367" y="3653239"/>
            <a:ext cx="95865" cy="0"/>
          </a:xfrm>
          <a:prstGeom prst="straightConnector1">
            <a:avLst/>
          </a:prstGeom>
          <a:ln w="1905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29C2DFA8-EFA2-4109-9814-C8BC839F7616}"/>
              </a:ext>
            </a:extLst>
          </p:cNvPr>
          <p:cNvSpPr txBox="1"/>
          <p:nvPr/>
        </p:nvSpPr>
        <p:spPr>
          <a:xfrm>
            <a:off x="3874650" y="1541206"/>
            <a:ext cx="1344356" cy="117524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28588" indent="-128588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/>
            </a:pPr>
            <a:r>
              <a:rPr lang="en-US" sz="900">
                <a:latin typeface="HP Simplified Light" panose="020B0404020204020204" pitchFamily="34" charset="0"/>
              </a:rPr>
              <a:t>Finalize Service Launch Structure</a:t>
            </a:r>
          </a:p>
          <a:p>
            <a:pPr marL="128588" indent="-128588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/>
            </a:pPr>
            <a:r>
              <a:rPr lang="en-US" sz="900">
                <a:latin typeface="HP Simplified Light" panose="020B0404020204020204" pitchFamily="34" charset="0"/>
              </a:rPr>
              <a:t>Finalize Financials</a:t>
            </a:r>
          </a:p>
          <a:p>
            <a:pPr marL="128588" indent="-128588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/>
            </a:pPr>
            <a:r>
              <a:rPr lang="en-US" sz="900">
                <a:latin typeface="HP Simplified Light" panose="020B0404020204020204" pitchFamily="34" charset="0"/>
              </a:rPr>
              <a:t>Capability Development</a:t>
            </a:r>
          </a:p>
          <a:p>
            <a:pPr marL="128588" indent="-128588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/>
            </a:pPr>
            <a:r>
              <a:rPr lang="en-US" sz="900">
                <a:latin typeface="HP Simplified Light" panose="020B0404020204020204" pitchFamily="34" charset="0"/>
              </a:rPr>
              <a:t>Customer Validation based on CX Testing</a:t>
            </a:r>
          </a:p>
          <a:p>
            <a:pPr marL="128588" indent="-128588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/>
            </a:pPr>
            <a:endParaRPr lang="en-US" sz="900">
              <a:latin typeface="HP Simplified Light" panose="020B0404020204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5163DE4-6899-42CD-8AFF-305DFC516EE8}"/>
              </a:ext>
            </a:extLst>
          </p:cNvPr>
          <p:cNvSpPr txBox="1"/>
          <p:nvPr/>
        </p:nvSpPr>
        <p:spPr>
          <a:xfrm>
            <a:off x="5771629" y="1541206"/>
            <a:ext cx="1344356" cy="117524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28588" indent="-128588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/>
            </a:pPr>
            <a:r>
              <a:rPr lang="en-US" sz="900">
                <a:latin typeface="HP Simplified Light" panose="020B0404020204020204" pitchFamily="34" charset="0"/>
              </a:rPr>
              <a:t>Service Launch Readiness based on GTM Strategy</a:t>
            </a:r>
          </a:p>
          <a:p>
            <a:pPr marL="128588" indent="-128588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/>
            </a:pPr>
            <a:r>
              <a:rPr lang="en-US" sz="900">
                <a:latin typeface="HP Simplified Light" panose="020B0404020204020204" pitchFamily="34" charset="0"/>
              </a:rPr>
              <a:t>Scaling and Value Chain Testing</a:t>
            </a:r>
          </a:p>
          <a:p>
            <a:pPr marL="128588" indent="-128588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/>
            </a:pPr>
            <a:r>
              <a:rPr lang="en-US" sz="900">
                <a:latin typeface="HP Simplified Light" panose="020B0404020204020204" pitchFamily="34" charset="0"/>
              </a:rPr>
              <a:t>E2E Compliance Review</a:t>
            </a:r>
          </a:p>
          <a:p>
            <a:pPr marL="128588" indent="-128588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/>
            </a:pPr>
            <a:r>
              <a:rPr lang="en-US" sz="900">
                <a:latin typeface="HP Simplified Light" panose="020B0404020204020204" pitchFamily="34" charset="0"/>
              </a:rPr>
              <a:t>Training &amp; Sales Enablement </a:t>
            </a:r>
          </a:p>
          <a:p>
            <a:pPr marL="128588" indent="-128588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/>
            </a:pPr>
            <a:endParaRPr lang="en-US" sz="900">
              <a:latin typeface="HP Simplified Light" panose="020B0404020204020204" pitchFamily="34" charset="0"/>
            </a:endParaRPr>
          </a:p>
          <a:p>
            <a:pPr marL="128588" indent="-128588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/>
            </a:pPr>
            <a:endParaRPr lang="en-US" sz="900">
              <a:latin typeface="HP Simplified Light" panose="020B0404020204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B8B6B0F-31BC-4799-A23A-3BB14A4085BD}"/>
              </a:ext>
            </a:extLst>
          </p:cNvPr>
          <p:cNvSpPr txBox="1"/>
          <p:nvPr/>
        </p:nvSpPr>
        <p:spPr>
          <a:xfrm>
            <a:off x="6646116" y="2979595"/>
            <a:ext cx="1054958" cy="28759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  <a:spcBef>
                <a:spcPts val="450"/>
              </a:spcBef>
            </a:pPr>
            <a:r>
              <a:rPr lang="en-US" sz="788" b="1">
                <a:latin typeface="HP Simplified Light" panose="020B0404020204020204" pitchFamily="34" charset="0"/>
              </a:rPr>
              <a:t>Exec Checkpoint: </a:t>
            </a:r>
          </a:p>
          <a:p>
            <a:pPr>
              <a:lnSpc>
                <a:spcPct val="90000"/>
              </a:lnSpc>
              <a:spcBef>
                <a:spcPts val="450"/>
              </a:spcBef>
            </a:pPr>
            <a:r>
              <a:rPr lang="en-US" sz="750">
                <a:latin typeface="HP Simplified Light" panose="020B0404020204020204" pitchFamily="34" charset="0"/>
              </a:rPr>
              <a:t>Validation that Service Deployment is complete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329AB28-BFAC-4A90-A18F-29391397EEF7}"/>
              </a:ext>
            </a:extLst>
          </p:cNvPr>
          <p:cNvSpPr txBox="1"/>
          <p:nvPr/>
        </p:nvSpPr>
        <p:spPr>
          <a:xfrm>
            <a:off x="7701074" y="1536909"/>
            <a:ext cx="1344356" cy="117524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28588" indent="-128588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/>
            </a:pPr>
            <a:r>
              <a:rPr lang="en-US" sz="900">
                <a:latin typeface="HP Simplified Light" panose="020B0404020204020204" pitchFamily="34" charset="0"/>
              </a:rPr>
              <a:t>Early Adopter Program Feedback</a:t>
            </a:r>
          </a:p>
          <a:p>
            <a:pPr marL="128588" indent="-128588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/>
            </a:pPr>
            <a:r>
              <a:rPr lang="en-US" sz="900">
                <a:latin typeface="HP Simplified Light" panose="020B0404020204020204" pitchFamily="34" charset="0"/>
              </a:rPr>
              <a:t>KPI Tracking</a:t>
            </a:r>
          </a:p>
          <a:p>
            <a:pPr marL="128588" indent="-128588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/>
            </a:pPr>
            <a:r>
              <a:rPr lang="en-US" sz="900">
                <a:latin typeface="HP Simplified Light" panose="020B0404020204020204" pitchFamily="34" charset="0"/>
              </a:rPr>
              <a:t>Biz Case Validation</a:t>
            </a:r>
          </a:p>
          <a:p>
            <a:pPr marL="128588" indent="-128588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/>
            </a:pPr>
            <a:r>
              <a:rPr lang="en-US" sz="900">
                <a:latin typeface="HP Simplified Light" panose="020B0404020204020204" pitchFamily="34" charset="0"/>
              </a:rPr>
              <a:t>Feedback/Enhancements road mapped</a:t>
            </a:r>
          </a:p>
          <a:p>
            <a:pPr marL="128588" indent="-128588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/>
            </a:pPr>
            <a:r>
              <a:rPr lang="en-US" sz="900">
                <a:latin typeface="HP Simplified Light" panose="020B0404020204020204" pitchFamily="34" charset="0"/>
              </a:rPr>
              <a:t>Customer/Market/Ops Insight</a:t>
            </a:r>
          </a:p>
          <a:p>
            <a:pPr marL="128588" indent="-128588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/>
            </a:pPr>
            <a:endParaRPr lang="en-US" sz="900">
              <a:latin typeface="HP Simplified Light" panose="020B0404020204020204" pitchFamily="34" charset="0"/>
            </a:endParaRPr>
          </a:p>
          <a:p>
            <a:pPr marL="128588" indent="-128588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/>
            </a:pPr>
            <a:endParaRPr lang="en-US" sz="900">
              <a:latin typeface="HP Simplified Light" panose="020B0404020204020204" pitchFamily="34" charset="0"/>
            </a:endParaRPr>
          </a:p>
          <a:p>
            <a:pPr marL="128588" indent="-128588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/>
            </a:pPr>
            <a:endParaRPr lang="en-US" sz="900">
              <a:latin typeface="HP Simplified Light" panose="020B0404020204020204" pitchFamily="34" charset="0"/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93014ED-3F75-4842-8C06-8BBCFB37BFA1}"/>
              </a:ext>
            </a:extLst>
          </p:cNvPr>
          <p:cNvCxnSpPr>
            <a:cxnSpLocks/>
          </p:cNvCxnSpPr>
          <p:nvPr/>
        </p:nvCxnSpPr>
        <p:spPr>
          <a:xfrm flipV="1">
            <a:off x="273050" y="2403987"/>
            <a:ext cx="0" cy="2116394"/>
          </a:xfrm>
          <a:prstGeom prst="straightConnector1">
            <a:avLst/>
          </a:prstGeom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CE9D9A84-38E1-424C-A798-21E4DCD0D56D}"/>
              </a:ext>
            </a:extLst>
          </p:cNvPr>
          <p:cNvCxnSpPr/>
          <p:nvPr/>
        </p:nvCxnSpPr>
        <p:spPr>
          <a:xfrm>
            <a:off x="273050" y="4520381"/>
            <a:ext cx="816302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137D43E-35E0-4A75-837C-CFB67C0D8C0A}"/>
              </a:ext>
            </a:extLst>
          </p:cNvPr>
          <p:cNvCxnSpPr>
            <a:cxnSpLocks/>
          </p:cNvCxnSpPr>
          <p:nvPr/>
        </p:nvCxnSpPr>
        <p:spPr>
          <a:xfrm>
            <a:off x="8436077" y="3852339"/>
            <a:ext cx="1" cy="66804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EDA7382A-510F-421A-BD27-19DA290DA8C2}"/>
              </a:ext>
            </a:extLst>
          </p:cNvPr>
          <p:cNvSpPr txBox="1"/>
          <p:nvPr/>
        </p:nvSpPr>
        <p:spPr>
          <a:xfrm>
            <a:off x="7881790" y="3625508"/>
            <a:ext cx="1108574" cy="17144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858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i="1">
                <a:latin typeface="HP Simplified Light"/>
                <a:cs typeface="+mn-cs"/>
              </a:rPr>
              <a:t>Learning and iteration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E02854-66C9-4352-994E-C2DDDAD36CD1}"/>
              </a:ext>
            </a:extLst>
          </p:cNvPr>
          <p:cNvSpPr txBox="1"/>
          <p:nvPr/>
        </p:nvSpPr>
        <p:spPr>
          <a:xfrm>
            <a:off x="287511" y="768837"/>
            <a:ext cx="780223" cy="1441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90000"/>
              </a:lnSpc>
              <a:spcBef>
                <a:spcPts val="450"/>
              </a:spcBef>
            </a:pPr>
            <a:r>
              <a:rPr lang="en-US" sz="1600" b="1">
                <a:solidFill>
                  <a:srgbClr val="0096D6"/>
                </a:solidFill>
                <a:latin typeface="HP Simplified Light" panose="020B0404020204020204" pitchFamily="34" charset="0"/>
              </a:rPr>
              <a:t>Phase 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DAA7D4-958E-47D5-972E-890B393866FB}"/>
              </a:ext>
            </a:extLst>
          </p:cNvPr>
          <p:cNvSpPr txBox="1"/>
          <p:nvPr/>
        </p:nvSpPr>
        <p:spPr>
          <a:xfrm>
            <a:off x="2257682" y="768837"/>
            <a:ext cx="780223" cy="1441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90000"/>
              </a:lnSpc>
              <a:spcBef>
                <a:spcPts val="450"/>
              </a:spcBef>
            </a:pPr>
            <a:r>
              <a:rPr lang="en-US" sz="1600" b="1">
                <a:solidFill>
                  <a:srgbClr val="0096D6"/>
                </a:solidFill>
                <a:latin typeface="HP Simplified Light" panose="020B0404020204020204" pitchFamily="34" charset="0"/>
              </a:rPr>
              <a:t>Phase 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D135E70-40FC-4146-99F7-9B52E21B3B70}"/>
              </a:ext>
            </a:extLst>
          </p:cNvPr>
          <p:cNvSpPr txBox="1"/>
          <p:nvPr/>
        </p:nvSpPr>
        <p:spPr>
          <a:xfrm>
            <a:off x="7906576" y="768837"/>
            <a:ext cx="780223" cy="1441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90000"/>
              </a:lnSpc>
              <a:spcBef>
                <a:spcPts val="450"/>
              </a:spcBef>
            </a:pPr>
            <a:r>
              <a:rPr lang="en-US" sz="1600" b="1">
                <a:solidFill>
                  <a:srgbClr val="0096D6"/>
                </a:solidFill>
                <a:latin typeface="HP Simplified Light" panose="020B0404020204020204" pitchFamily="34" charset="0"/>
              </a:rPr>
              <a:t>Phase 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4CE6934-DD72-4FFC-9749-B7766A81DE36}"/>
              </a:ext>
            </a:extLst>
          </p:cNvPr>
          <p:cNvSpPr txBox="1"/>
          <p:nvPr/>
        </p:nvSpPr>
        <p:spPr>
          <a:xfrm>
            <a:off x="4159081" y="768837"/>
            <a:ext cx="780223" cy="1441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90000"/>
              </a:lnSpc>
              <a:spcBef>
                <a:spcPts val="450"/>
              </a:spcBef>
            </a:pPr>
            <a:r>
              <a:rPr lang="en-US" sz="1600" b="1">
                <a:solidFill>
                  <a:srgbClr val="0096D6"/>
                </a:solidFill>
                <a:latin typeface="HP Simplified Light" panose="020B0404020204020204" pitchFamily="34" charset="0"/>
              </a:rPr>
              <a:t>Phase 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1D8D970-2AE7-4F69-A2C0-CF1A04F06394}"/>
              </a:ext>
            </a:extLst>
          </p:cNvPr>
          <p:cNvSpPr txBox="1"/>
          <p:nvPr/>
        </p:nvSpPr>
        <p:spPr>
          <a:xfrm>
            <a:off x="6112469" y="768837"/>
            <a:ext cx="780223" cy="1441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90000"/>
              </a:lnSpc>
              <a:spcBef>
                <a:spcPts val="450"/>
              </a:spcBef>
            </a:pPr>
            <a:r>
              <a:rPr lang="en-US" sz="1600" b="1">
                <a:solidFill>
                  <a:srgbClr val="0096D6"/>
                </a:solidFill>
                <a:latin typeface="HP Simplified Light" panose="020B0404020204020204" pitchFamily="34" charset="0"/>
              </a:rPr>
              <a:t>Phase 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8AC223D-1392-4AA2-90EF-F699BF0EBD2E}"/>
              </a:ext>
            </a:extLst>
          </p:cNvPr>
          <p:cNvSpPr txBox="1"/>
          <p:nvPr/>
        </p:nvSpPr>
        <p:spPr>
          <a:xfrm>
            <a:off x="7140075" y="976634"/>
            <a:ext cx="556675" cy="2357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6858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50" b="1" kern="0">
                <a:solidFill>
                  <a:schemeClr val="bg1"/>
                </a:solidFill>
              </a:rPr>
              <a:t> </a:t>
            </a:r>
            <a:endParaRPr lang="en-US" sz="750" b="1" kern="0"/>
          </a:p>
          <a:p>
            <a:pPr algn="ctr" defTabSz="68580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50" b="1" kern="0">
                <a:latin typeface="HP Simplified Light" panose="020B0404020204020204" pitchFamily="34" charset="0"/>
              </a:rPr>
              <a:t>Exec Checkpoint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6AA104A-2848-4579-9554-2E04227C9358}"/>
              </a:ext>
            </a:extLst>
          </p:cNvPr>
          <p:cNvSpPr txBox="1"/>
          <p:nvPr/>
        </p:nvSpPr>
        <p:spPr>
          <a:xfrm>
            <a:off x="538472" y="75122"/>
            <a:ext cx="7973164" cy="614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87192">
              <a:spcAft>
                <a:spcPts val="360"/>
              </a:spcAft>
              <a:buSzPct val="100000"/>
            </a:pPr>
            <a:r>
              <a:rPr lang="en-US" b="1">
                <a:solidFill>
                  <a:srgbClr val="0096D6"/>
                </a:solidFill>
                <a:latin typeface="HP Simplified Light" panose="020B0404020204020204" pitchFamily="34" charset="0"/>
                <a:cs typeface="HP Simplified" pitchFamily="34" charset="0"/>
              </a:rPr>
              <a:t>Phase Overview:  PS Services E2E Product Management Process</a:t>
            </a:r>
          </a:p>
          <a:p>
            <a:pPr defTabSz="387192">
              <a:spcAft>
                <a:spcPts val="360"/>
              </a:spcAft>
              <a:buSzPct val="100000"/>
            </a:pPr>
            <a:r>
              <a:rPr lang="en-US" sz="1260" b="1">
                <a:solidFill>
                  <a:srgbClr val="0096D6"/>
                </a:solidFill>
                <a:latin typeface="HP Simplified Light" panose="020B0404020204020204" pitchFamily="34" charset="0"/>
                <a:cs typeface="HP Simplified" pitchFamily="34" charset="0"/>
              </a:rPr>
              <a:t>R2.2 Guidebook</a:t>
            </a:r>
          </a:p>
        </p:txBody>
      </p:sp>
    </p:spTree>
    <p:extLst>
      <p:ext uri="{BB962C8B-B14F-4D97-AF65-F5344CB8AC3E}">
        <p14:creationId xmlns:p14="http://schemas.microsoft.com/office/powerpoint/2010/main" val="547810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AAC35D5-715F-4BA7-8016-D55DDBBDD5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96450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AAC35D5-715F-4BA7-8016-D55DDBBDD5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38" name="Elbow Connector 215">
            <a:extLst>
              <a:ext uri="{FF2B5EF4-FFF2-40B4-BE49-F238E27FC236}">
                <a16:creationId xmlns:a16="http://schemas.microsoft.com/office/drawing/2014/main" id="{B49A09C8-4534-4DB2-B9AD-C2D5B8842842}"/>
              </a:ext>
            </a:extLst>
          </p:cNvPr>
          <p:cNvCxnSpPr>
            <a:cxnSpLocks/>
            <a:stCxn id="336" idx="2"/>
            <a:endCxn id="171" idx="0"/>
          </p:cNvCxnSpPr>
          <p:nvPr/>
        </p:nvCxnSpPr>
        <p:spPr>
          <a:xfrm rot="16200000" flipH="1">
            <a:off x="3891081" y="2809323"/>
            <a:ext cx="2548834" cy="1"/>
          </a:xfrm>
          <a:prstGeom prst="bentConnector3">
            <a:avLst>
              <a:gd name="adj1" fmla="val 50000"/>
            </a:avLst>
          </a:prstGeom>
          <a:ln w="12700" cmpd="sng">
            <a:solidFill>
              <a:schemeClr val="tx1"/>
            </a:solidFill>
            <a:prstDash val="dash"/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Elbow Connector 281">
            <a:extLst>
              <a:ext uri="{FF2B5EF4-FFF2-40B4-BE49-F238E27FC236}">
                <a16:creationId xmlns:a16="http://schemas.microsoft.com/office/drawing/2014/main" id="{69AD7B4D-CF5D-44CD-8CAA-05987090AE1F}"/>
              </a:ext>
            </a:extLst>
          </p:cNvPr>
          <p:cNvCxnSpPr>
            <a:cxnSpLocks/>
            <a:endCxn id="204" idx="0"/>
          </p:cNvCxnSpPr>
          <p:nvPr/>
        </p:nvCxnSpPr>
        <p:spPr>
          <a:xfrm rot="5400000">
            <a:off x="3878738" y="2257960"/>
            <a:ext cx="1425910" cy="5104"/>
          </a:xfrm>
          <a:prstGeom prst="bentConnector3">
            <a:avLst>
              <a:gd name="adj1" fmla="val 50000"/>
            </a:avLst>
          </a:prstGeom>
          <a:ln w="12700" cmpd="sng">
            <a:solidFill>
              <a:schemeClr val="tx1"/>
            </a:solidFill>
            <a:prstDash val="dash"/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Rectangle 211">
            <a:extLst>
              <a:ext uri="{FF2B5EF4-FFF2-40B4-BE49-F238E27FC236}">
                <a16:creationId xmlns:a16="http://schemas.microsoft.com/office/drawing/2014/main" id="{C652688A-4098-462D-9CC6-09BB0A4C2189}"/>
              </a:ext>
            </a:extLst>
          </p:cNvPr>
          <p:cNvSpPr/>
          <p:nvPr/>
        </p:nvSpPr>
        <p:spPr>
          <a:xfrm>
            <a:off x="7546838" y="638876"/>
            <a:ext cx="1049379" cy="501472"/>
          </a:xfrm>
          <a:prstGeom prst="rect">
            <a:avLst/>
          </a:prstGeom>
          <a:solidFill>
            <a:srgbClr val="0096D6">
              <a:alpha val="2784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1480"/>
            <a:endParaRPr lang="en-US">
              <a:solidFill>
                <a:prstClr val="white"/>
              </a:solidFill>
            </a:endParaRP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5C638144-23DF-4FEC-AFCE-23663EE94A50}"/>
              </a:ext>
            </a:extLst>
          </p:cNvPr>
          <p:cNvSpPr/>
          <p:nvPr/>
        </p:nvSpPr>
        <p:spPr>
          <a:xfrm>
            <a:off x="2440416" y="645066"/>
            <a:ext cx="5063379" cy="501472"/>
          </a:xfrm>
          <a:prstGeom prst="rect">
            <a:avLst/>
          </a:prstGeom>
          <a:solidFill>
            <a:srgbClr val="92D05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1480"/>
            <a:endParaRPr lang="en-US">
              <a:solidFill>
                <a:prstClr val="white"/>
              </a:solidFill>
            </a:endParaRPr>
          </a:p>
        </p:txBody>
      </p:sp>
      <p:sp>
        <p:nvSpPr>
          <p:cNvPr id="488" name="Rectangle 487"/>
          <p:cNvSpPr/>
          <p:nvPr/>
        </p:nvSpPr>
        <p:spPr>
          <a:xfrm>
            <a:off x="457201" y="640953"/>
            <a:ext cx="1949328" cy="501472"/>
          </a:xfrm>
          <a:prstGeom prst="rect">
            <a:avLst/>
          </a:prstGeom>
          <a:solidFill>
            <a:srgbClr val="7030A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1480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557" name="Straight Connector 556"/>
          <p:cNvCxnSpPr>
            <a:cxnSpLocks/>
          </p:cNvCxnSpPr>
          <p:nvPr/>
        </p:nvCxnSpPr>
        <p:spPr>
          <a:xfrm>
            <a:off x="4138031" y="1036448"/>
            <a:ext cx="19348" cy="3531412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2425204" y="1041283"/>
            <a:ext cx="4913" cy="3601025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Straight Connector 557"/>
          <p:cNvCxnSpPr/>
          <p:nvPr/>
        </p:nvCxnSpPr>
        <p:spPr>
          <a:xfrm>
            <a:off x="6091405" y="1036447"/>
            <a:ext cx="0" cy="3379559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Straight Connector 531"/>
          <p:cNvCxnSpPr>
            <a:cxnSpLocks/>
          </p:cNvCxnSpPr>
          <p:nvPr/>
        </p:nvCxnSpPr>
        <p:spPr>
          <a:xfrm flipV="1">
            <a:off x="2997873" y="3015875"/>
            <a:ext cx="4542077" cy="16348"/>
          </a:xfrm>
          <a:prstGeom prst="line">
            <a:avLst/>
          </a:prstGeom>
          <a:ln w="63500" cmpd="thinThick">
            <a:solidFill>
              <a:srgbClr val="FFC000"/>
            </a:solidFill>
          </a:ln>
          <a:effec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04" name="Straight Connector 403"/>
          <p:cNvCxnSpPr/>
          <p:nvPr/>
        </p:nvCxnSpPr>
        <p:spPr>
          <a:xfrm flipV="1">
            <a:off x="1166017" y="1947295"/>
            <a:ext cx="7408959" cy="1497"/>
          </a:xfrm>
          <a:prstGeom prst="line">
            <a:avLst/>
          </a:prstGeom>
          <a:ln w="63500" cmpd="thinThick">
            <a:solidFill>
              <a:srgbClr val="FF00FF"/>
            </a:solidFill>
          </a:ln>
          <a:effec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38" name="Oval 437"/>
          <p:cNvSpPr/>
          <p:nvPr/>
        </p:nvSpPr>
        <p:spPr>
          <a:xfrm>
            <a:off x="1067262" y="1897461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39" name="Rectangle 114"/>
          <p:cNvSpPr>
            <a:spLocks noChangeArrowheads="1"/>
          </p:cNvSpPr>
          <p:nvPr/>
        </p:nvSpPr>
        <p:spPr bwMode="auto">
          <a:xfrm>
            <a:off x="509993" y="1839736"/>
            <a:ext cx="521718" cy="199439"/>
          </a:xfrm>
          <a:prstGeom prst="homePlat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8230" tIns="16459" rIns="8230" bIns="16459">
            <a:spAutoFit/>
          </a:bodyPr>
          <a:lstStyle/>
          <a:p>
            <a:pPr algn="ctr" defTabSz="411480"/>
            <a:r>
              <a:rPr lang="en-US" sz="540" i="1">
                <a:solidFill>
                  <a:srgbClr val="000000"/>
                </a:solidFill>
              </a:rPr>
              <a:t>Market Insights &amp; Trends</a:t>
            </a:r>
          </a:p>
        </p:txBody>
      </p:sp>
      <p:sp>
        <p:nvSpPr>
          <p:cNvPr id="447" name="Rectangle 114"/>
          <p:cNvSpPr>
            <a:spLocks noChangeArrowheads="1"/>
          </p:cNvSpPr>
          <p:nvPr/>
        </p:nvSpPr>
        <p:spPr bwMode="auto">
          <a:xfrm>
            <a:off x="1774880" y="1991353"/>
            <a:ext cx="427598" cy="363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Opportunity Sizing</a:t>
            </a:r>
          </a:p>
        </p:txBody>
      </p:sp>
      <p:sp>
        <p:nvSpPr>
          <p:cNvPr id="455" name="Rectangle 114"/>
          <p:cNvSpPr>
            <a:spLocks noChangeArrowheads="1"/>
          </p:cNvSpPr>
          <p:nvPr/>
        </p:nvSpPr>
        <p:spPr bwMode="auto">
          <a:xfrm>
            <a:off x="4217048" y="1927479"/>
            <a:ext cx="443487" cy="363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srgbClr val="000000"/>
                </a:solidFill>
                <a:latin typeface="Arial" charset="0"/>
                <a:cs typeface="+mn-cs"/>
              </a:rPr>
              <a:t>Service Naming</a:t>
            </a:r>
          </a:p>
        </p:txBody>
      </p:sp>
      <p:sp>
        <p:nvSpPr>
          <p:cNvPr id="459" name="Rectangle 114"/>
          <p:cNvSpPr>
            <a:spLocks noChangeArrowheads="1"/>
          </p:cNvSpPr>
          <p:nvPr/>
        </p:nvSpPr>
        <p:spPr bwMode="auto">
          <a:xfrm>
            <a:off x="5321335" y="1935386"/>
            <a:ext cx="402879" cy="363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Confirm KPIs</a:t>
            </a:r>
          </a:p>
        </p:txBody>
      </p:sp>
      <p:sp>
        <p:nvSpPr>
          <p:cNvPr id="535" name="Oval 534"/>
          <p:cNvSpPr/>
          <p:nvPr/>
        </p:nvSpPr>
        <p:spPr>
          <a:xfrm>
            <a:off x="5116121" y="2973467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51" name="TextBox 550"/>
          <p:cNvSpPr txBox="1"/>
          <p:nvPr/>
        </p:nvSpPr>
        <p:spPr>
          <a:xfrm>
            <a:off x="898967" y="890238"/>
            <a:ext cx="1487412" cy="203133"/>
          </a:xfrm>
          <a:prstGeom prst="rect">
            <a:avLst/>
          </a:prstGeom>
          <a:solidFill>
            <a:srgbClr val="D9E1F2"/>
          </a:solidFill>
          <a:ln>
            <a:solidFill>
              <a:srgbClr val="D9E1F2"/>
            </a:solidFill>
          </a:ln>
        </p:spPr>
        <p:txBody>
          <a:bodyPr wrap="square" rtlCol="0">
            <a:spAutoFit/>
          </a:bodyPr>
          <a:lstStyle/>
          <a:p>
            <a:pPr algn="ctr" defTabSz="387188">
              <a:spcAft>
                <a:spcPts val="360"/>
              </a:spcAft>
              <a:buSzPct val="100000"/>
            </a:pPr>
            <a:r>
              <a:rPr lang="en-US" sz="720">
                <a:solidFill>
                  <a:srgbClr val="000000"/>
                </a:solidFill>
                <a:cs typeface="HP Simplified" pitchFamily="34" charset="0"/>
              </a:rPr>
              <a:t>1-IDEA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2471758" y="890238"/>
            <a:ext cx="1646165" cy="203133"/>
          </a:xfrm>
          <a:prstGeom prst="rect">
            <a:avLst/>
          </a:prstGeom>
          <a:solidFill>
            <a:srgbClr val="B4C6E7"/>
          </a:solidFill>
          <a:ln>
            <a:solidFill>
              <a:srgbClr val="B4C6E7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 defTabSz="430209">
              <a:spcAft>
                <a:spcPts val="400"/>
              </a:spcAft>
              <a:buSzPct val="100000"/>
              <a:defRPr sz="80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</a:lstStyle>
          <a:p>
            <a:r>
              <a:rPr lang="en-US" sz="720"/>
              <a:t>2-SERVICE DESIGN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4176036" y="890238"/>
            <a:ext cx="1904642" cy="203133"/>
          </a:xfrm>
          <a:prstGeom prst="rect">
            <a:avLst/>
          </a:prstGeom>
          <a:solidFill>
            <a:srgbClr val="8EA9DB"/>
          </a:solidFill>
          <a:ln>
            <a:solidFill>
              <a:srgbClr val="8EA9DB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 defTabSz="430209">
              <a:spcAft>
                <a:spcPts val="400"/>
              </a:spcAft>
              <a:buSzPct val="100000"/>
              <a:defRPr sz="80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</a:lstStyle>
          <a:p>
            <a:r>
              <a:rPr lang="en-US" sz="720"/>
              <a:t>3-SERVICE DEVELOPMENT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6102153" y="890238"/>
            <a:ext cx="1382217" cy="203133"/>
          </a:xfrm>
          <a:prstGeom prst="rect">
            <a:avLst/>
          </a:prstGeom>
          <a:solidFill>
            <a:srgbClr val="305496"/>
          </a:solidFill>
          <a:ln>
            <a:solidFill>
              <a:srgbClr val="305496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 defTabSz="430209">
              <a:spcAft>
                <a:spcPts val="400"/>
              </a:spcAft>
              <a:buSzPct val="100000"/>
              <a:defRPr sz="80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</a:lstStyle>
          <a:p>
            <a:r>
              <a:rPr lang="en-US" sz="720">
                <a:solidFill>
                  <a:schemeClr val="bg1"/>
                </a:solidFill>
              </a:rPr>
              <a:t>4-SERVICE DEPLOYMENT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7574857" y="891192"/>
            <a:ext cx="963247" cy="203133"/>
          </a:xfrm>
          <a:prstGeom prst="rect">
            <a:avLst/>
          </a:prstGeom>
          <a:solidFill>
            <a:srgbClr val="203764"/>
          </a:solidFill>
          <a:ln>
            <a:solidFill>
              <a:srgbClr val="203764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 defTabSz="430209">
              <a:spcAft>
                <a:spcPts val="400"/>
              </a:spcAft>
              <a:buSzPct val="100000"/>
              <a:defRPr sz="80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</a:lstStyle>
          <a:p>
            <a:r>
              <a:rPr lang="en-US" sz="720">
                <a:solidFill>
                  <a:schemeClr val="bg1"/>
                </a:solidFill>
              </a:rPr>
              <a:t>5-SVC IMPROVEMENT</a:t>
            </a:r>
          </a:p>
        </p:txBody>
      </p:sp>
      <p:cxnSp>
        <p:nvCxnSpPr>
          <p:cNvPr id="560" name="Straight Connector 559"/>
          <p:cNvCxnSpPr/>
          <p:nvPr/>
        </p:nvCxnSpPr>
        <p:spPr>
          <a:xfrm>
            <a:off x="7522177" y="1009710"/>
            <a:ext cx="15033" cy="3578583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TextBox 192"/>
          <p:cNvSpPr txBox="1"/>
          <p:nvPr/>
        </p:nvSpPr>
        <p:spPr>
          <a:xfrm>
            <a:off x="1040122" y="672566"/>
            <a:ext cx="906017" cy="2031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87192">
              <a:spcAft>
                <a:spcPts val="360"/>
              </a:spcAft>
              <a:buSzPct val="100000"/>
            </a:pPr>
            <a:r>
              <a:rPr lang="en-US" sz="720">
                <a:solidFill>
                  <a:srgbClr val="000000"/>
                </a:solidFill>
                <a:cs typeface="HP Simplified" pitchFamily="34" charset="0"/>
              </a:rPr>
              <a:t>Plan of Intent (POI)</a:t>
            </a:r>
            <a:endParaRPr lang="en-US" sz="1440">
              <a:solidFill>
                <a:srgbClr val="000000"/>
              </a:solidFill>
              <a:cs typeface="HP Simplified" pitchFamily="34" charset="0"/>
            </a:endParaRPr>
          </a:p>
        </p:txBody>
      </p:sp>
      <p:sp>
        <p:nvSpPr>
          <p:cNvPr id="607" name="TextBox 606"/>
          <p:cNvSpPr txBox="1"/>
          <p:nvPr/>
        </p:nvSpPr>
        <p:spPr>
          <a:xfrm>
            <a:off x="4585324" y="687969"/>
            <a:ext cx="958917" cy="2031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87192">
              <a:spcAft>
                <a:spcPts val="360"/>
              </a:spcAft>
              <a:buSzPct val="100000"/>
            </a:pPr>
            <a:r>
              <a:rPr lang="en-US" sz="720">
                <a:solidFill>
                  <a:srgbClr val="000000"/>
                </a:solidFill>
                <a:cs typeface="HP Simplified" pitchFamily="34" charset="0"/>
              </a:rPr>
              <a:t>Plan of Record (POR)</a:t>
            </a:r>
            <a:endParaRPr lang="en-US" sz="1440">
              <a:solidFill>
                <a:srgbClr val="000000"/>
              </a:solidFill>
              <a:cs typeface="HP Simplified" pitchFamily="34" charset="0"/>
            </a:endParaRPr>
          </a:p>
        </p:txBody>
      </p:sp>
      <p:sp>
        <p:nvSpPr>
          <p:cNvPr id="610" name="TextBox 609"/>
          <p:cNvSpPr txBox="1"/>
          <p:nvPr/>
        </p:nvSpPr>
        <p:spPr>
          <a:xfrm>
            <a:off x="7735023" y="684603"/>
            <a:ext cx="553357" cy="2031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87192">
              <a:spcAft>
                <a:spcPts val="360"/>
              </a:spcAft>
              <a:buSzPct val="100000"/>
            </a:pPr>
            <a:r>
              <a:rPr lang="en-US" sz="720">
                <a:solidFill>
                  <a:srgbClr val="000000"/>
                </a:solidFill>
                <a:cs typeface="HP Simplified" pitchFamily="34" charset="0"/>
              </a:rPr>
              <a:t>In-Market</a:t>
            </a:r>
            <a:endParaRPr lang="en-US" sz="1440">
              <a:solidFill>
                <a:srgbClr val="000000"/>
              </a:solidFill>
              <a:cs typeface="HP Simplified" pitchFamily="34" charset="0"/>
            </a:endParaRPr>
          </a:p>
        </p:txBody>
      </p:sp>
      <p:sp>
        <p:nvSpPr>
          <p:cNvPr id="383" name="TextBox 382"/>
          <p:cNvSpPr txBox="1"/>
          <p:nvPr/>
        </p:nvSpPr>
        <p:spPr>
          <a:xfrm>
            <a:off x="538472" y="75122"/>
            <a:ext cx="7973164" cy="614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87192">
              <a:spcAft>
                <a:spcPts val="360"/>
              </a:spcAft>
              <a:buSzPct val="100000"/>
            </a:pPr>
            <a:r>
              <a:rPr lang="en-US" b="1">
                <a:solidFill>
                  <a:srgbClr val="0096D6"/>
                </a:solidFill>
                <a:latin typeface="HP Simplified Light" panose="020B0404020204020204" pitchFamily="34" charset="0"/>
                <a:cs typeface="HP Simplified" pitchFamily="34" charset="0"/>
              </a:rPr>
              <a:t>Metro Map:  PS Services E2E Product Management Process</a:t>
            </a:r>
          </a:p>
          <a:p>
            <a:pPr defTabSz="387192">
              <a:spcAft>
                <a:spcPts val="360"/>
              </a:spcAft>
              <a:buSzPct val="100000"/>
            </a:pPr>
            <a:r>
              <a:rPr lang="en-US" sz="1260" b="1">
                <a:solidFill>
                  <a:srgbClr val="0096D6"/>
                </a:solidFill>
                <a:latin typeface="HP Simplified Light" panose="020B0404020204020204" pitchFamily="34" charset="0"/>
                <a:cs typeface="HP Simplified" pitchFamily="34" charset="0"/>
              </a:rPr>
              <a:t>R2.2 Guidebook</a:t>
            </a:r>
          </a:p>
        </p:txBody>
      </p:sp>
      <p:sp>
        <p:nvSpPr>
          <p:cNvPr id="253" name="Oval 252"/>
          <p:cNvSpPr/>
          <p:nvPr/>
        </p:nvSpPr>
        <p:spPr>
          <a:xfrm>
            <a:off x="2044779" y="1897461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262" name="Elbow Connector 261"/>
          <p:cNvCxnSpPr>
            <a:cxnSpLocks/>
            <a:stCxn id="263" idx="3"/>
            <a:endCxn id="438" idx="4"/>
          </p:cNvCxnSpPr>
          <p:nvPr/>
        </p:nvCxnSpPr>
        <p:spPr>
          <a:xfrm flipV="1">
            <a:off x="1014662" y="1998626"/>
            <a:ext cx="101978" cy="12914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Pentagon 262"/>
          <p:cNvSpPr/>
          <p:nvPr/>
        </p:nvSpPr>
        <p:spPr>
          <a:xfrm>
            <a:off x="509994" y="2069599"/>
            <a:ext cx="504668" cy="116339"/>
          </a:xfrm>
          <a:prstGeom prst="homePlat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8230" tIns="16459" rIns="8230" bIns="16459">
            <a:spAutoFit/>
          </a:bodyPr>
          <a:lstStyle/>
          <a:p>
            <a:pPr algn="ctr" defTabSz="411480"/>
            <a:r>
              <a:rPr lang="en-US" sz="540" i="1">
                <a:solidFill>
                  <a:srgbClr val="000000"/>
                </a:solidFill>
              </a:rPr>
              <a:t>Strategy</a:t>
            </a:r>
          </a:p>
        </p:txBody>
      </p:sp>
      <p:cxnSp>
        <p:nvCxnSpPr>
          <p:cNvPr id="387" name="Straight Connector 386"/>
          <p:cNvCxnSpPr>
            <a:cxnSpLocks/>
          </p:cNvCxnSpPr>
          <p:nvPr/>
        </p:nvCxnSpPr>
        <p:spPr>
          <a:xfrm>
            <a:off x="2964476" y="2481271"/>
            <a:ext cx="4575474" cy="5893"/>
          </a:xfrm>
          <a:prstGeom prst="line">
            <a:avLst/>
          </a:prstGeom>
          <a:ln w="63500" cmpd="thinThick">
            <a:solidFill>
              <a:schemeClr val="accent2">
                <a:lumMod val="50000"/>
              </a:schemeClr>
            </a:solidFill>
          </a:ln>
          <a:effec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25" name="Oval 424"/>
          <p:cNvSpPr/>
          <p:nvPr/>
        </p:nvSpPr>
        <p:spPr>
          <a:xfrm>
            <a:off x="5116121" y="2433635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437" name="Straight Connector 436"/>
          <p:cNvCxnSpPr/>
          <p:nvPr/>
        </p:nvCxnSpPr>
        <p:spPr>
          <a:xfrm>
            <a:off x="1090493" y="2484133"/>
            <a:ext cx="0" cy="0"/>
          </a:xfrm>
          <a:prstGeom prst="line">
            <a:avLst/>
          </a:prstGeom>
          <a:ln w="63500" cmpd="thinThick">
            <a:solidFill>
              <a:schemeClr val="accent3">
                <a:lumMod val="75000"/>
              </a:schemeClr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" name="Straight Connector 2"/>
          <p:cNvCxnSpPr>
            <a:cxnSpLocks/>
          </p:cNvCxnSpPr>
          <p:nvPr/>
        </p:nvCxnSpPr>
        <p:spPr>
          <a:xfrm>
            <a:off x="457201" y="1444101"/>
            <a:ext cx="8117774" cy="1"/>
          </a:xfrm>
          <a:prstGeom prst="line">
            <a:avLst/>
          </a:prstGeom>
          <a:ln w="63500" cmpd="thinThick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Elbow Connector 281"/>
          <p:cNvCxnSpPr>
            <a:cxnSpLocks/>
            <a:stCxn id="250" idx="2"/>
            <a:endCxn id="163" idx="0"/>
          </p:cNvCxnSpPr>
          <p:nvPr/>
        </p:nvCxnSpPr>
        <p:spPr>
          <a:xfrm rot="16200000" flipH="1">
            <a:off x="1689802" y="2809323"/>
            <a:ext cx="2548834" cy="1"/>
          </a:xfrm>
          <a:prstGeom prst="bentConnector3">
            <a:avLst>
              <a:gd name="adj1" fmla="val 50000"/>
            </a:avLst>
          </a:prstGeom>
          <a:ln w="12700" cmpd="sng">
            <a:solidFill>
              <a:schemeClr val="tx1"/>
            </a:solidFill>
            <a:prstDash val="dash"/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1" name="TextBox 290"/>
          <p:cNvSpPr txBox="1"/>
          <p:nvPr/>
        </p:nvSpPr>
        <p:spPr>
          <a:xfrm>
            <a:off x="1427191" y="2346115"/>
            <a:ext cx="929688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87192">
              <a:spcAft>
                <a:spcPts val="360"/>
              </a:spcAft>
              <a:buSzPct val="100000"/>
            </a:pPr>
            <a:r>
              <a:rPr lang="en-US" sz="720">
                <a:solidFill>
                  <a:srgbClr val="0096D6"/>
                </a:solidFill>
                <a:cs typeface="HP Simplified" pitchFamily="34" charset="0"/>
              </a:rPr>
              <a:t>Quote to Cash (Q2C)  / Portfolio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73482" y="1574095"/>
            <a:ext cx="1160303" cy="203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87192">
              <a:spcAft>
                <a:spcPts val="360"/>
              </a:spcAft>
              <a:buSzPct val="100000"/>
            </a:pPr>
            <a:r>
              <a:rPr lang="en-US" sz="720">
                <a:solidFill>
                  <a:srgbClr val="0096D6"/>
                </a:solidFill>
                <a:cs typeface="HP Simplified" pitchFamily="34" charset="0"/>
              </a:rPr>
              <a:t>  Product Manager / COE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1656642" y="2922991"/>
            <a:ext cx="584920" cy="203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87192">
              <a:spcAft>
                <a:spcPts val="360"/>
              </a:spcAft>
              <a:buSzPct val="100000"/>
            </a:pPr>
            <a:r>
              <a:rPr lang="en-US" sz="720">
                <a:solidFill>
                  <a:srgbClr val="0096D6"/>
                </a:solidFill>
                <a:cs typeface="HP Simplified" pitchFamily="34" charset="0"/>
              </a:rPr>
              <a:t>  Delivery</a:t>
            </a:r>
          </a:p>
        </p:txBody>
      </p:sp>
      <p:sp>
        <p:nvSpPr>
          <p:cNvPr id="326" name="Rectangle 114"/>
          <p:cNvSpPr>
            <a:spLocks noChangeArrowheads="1"/>
          </p:cNvSpPr>
          <p:nvPr/>
        </p:nvSpPr>
        <p:spPr bwMode="auto">
          <a:xfrm>
            <a:off x="4133575" y="1057191"/>
            <a:ext cx="525577" cy="391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630" b="1">
                <a:solidFill>
                  <a:srgbClr val="0096D6"/>
                </a:solidFill>
                <a:latin typeface="Arial" charset="0"/>
                <a:cs typeface="+mn-cs"/>
              </a:rPr>
              <a:t>Design Freeze</a:t>
            </a:r>
          </a:p>
        </p:txBody>
      </p:sp>
      <p:sp>
        <p:nvSpPr>
          <p:cNvPr id="127" name="Oval 126"/>
          <p:cNvSpPr/>
          <p:nvPr/>
        </p:nvSpPr>
        <p:spPr>
          <a:xfrm>
            <a:off x="420955" y="1394728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32" name="Rectangle 114"/>
          <p:cNvSpPr>
            <a:spLocks noChangeArrowheads="1"/>
          </p:cNvSpPr>
          <p:nvPr/>
        </p:nvSpPr>
        <p:spPr bwMode="auto">
          <a:xfrm>
            <a:off x="370979" y="1439511"/>
            <a:ext cx="691592" cy="280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Idea Formulation</a:t>
            </a:r>
          </a:p>
        </p:txBody>
      </p:sp>
      <p:sp>
        <p:nvSpPr>
          <p:cNvPr id="325" name="Diamond 324"/>
          <p:cNvSpPr/>
          <p:nvPr/>
        </p:nvSpPr>
        <p:spPr>
          <a:xfrm>
            <a:off x="4508523" y="1355714"/>
            <a:ext cx="161234" cy="179193"/>
          </a:xfrm>
          <a:prstGeom prst="diamond">
            <a:avLst/>
          </a:prstGeom>
          <a:solidFill>
            <a:schemeClr val="bg1"/>
          </a:solidFill>
          <a:ln w="38100">
            <a:solidFill>
              <a:schemeClr val="accent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1480"/>
            <a:endParaRPr lang="en-US">
              <a:solidFill>
                <a:prstClr val="white"/>
              </a:solidFill>
            </a:endParaRPr>
          </a:p>
        </p:txBody>
      </p:sp>
      <p:sp>
        <p:nvSpPr>
          <p:cNvPr id="158" name="Rectangle 114"/>
          <p:cNvSpPr>
            <a:spLocks noChangeArrowheads="1"/>
          </p:cNvSpPr>
          <p:nvPr/>
        </p:nvSpPr>
        <p:spPr bwMode="auto">
          <a:xfrm>
            <a:off x="2678564" y="1433905"/>
            <a:ext cx="2431941" cy="294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defTabSz="411480"/>
            <a:r>
              <a:rPr lang="en-US" sz="630" b="1" i="1">
                <a:solidFill>
                  <a:prstClr val="black"/>
                </a:solidFill>
                <a:latin typeface="Arial" charset="0"/>
                <a:cs typeface="+mn-cs"/>
              </a:rPr>
              <a:t>Cross    Functional Core Team Engagement     -&gt; -&gt; -&gt;</a:t>
            </a:r>
          </a:p>
        </p:txBody>
      </p:sp>
      <p:sp>
        <p:nvSpPr>
          <p:cNvPr id="165" name="Rectangle 114"/>
          <p:cNvSpPr>
            <a:spLocks noChangeArrowheads="1"/>
          </p:cNvSpPr>
          <p:nvPr/>
        </p:nvSpPr>
        <p:spPr bwMode="auto">
          <a:xfrm>
            <a:off x="4166683" y="2453569"/>
            <a:ext cx="453387" cy="363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Enablement Strategy</a:t>
            </a:r>
          </a:p>
        </p:txBody>
      </p:sp>
      <p:sp>
        <p:nvSpPr>
          <p:cNvPr id="441" name="Rectangle 114"/>
          <p:cNvSpPr>
            <a:spLocks noChangeArrowheads="1"/>
          </p:cNvSpPr>
          <p:nvPr/>
        </p:nvSpPr>
        <p:spPr bwMode="auto">
          <a:xfrm>
            <a:off x="1066518" y="1686358"/>
            <a:ext cx="559223" cy="199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16459" rIns="0" bIns="16459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Competitor Analysis</a:t>
            </a:r>
          </a:p>
        </p:txBody>
      </p:sp>
      <p:cxnSp>
        <p:nvCxnSpPr>
          <p:cNvPr id="180" name="Straight Connector 179"/>
          <p:cNvCxnSpPr>
            <a:cxnSpLocks/>
          </p:cNvCxnSpPr>
          <p:nvPr/>
        </p:nvCxnSpPr>
        <p:spPr>
          <a:xfrm flipV="1">
            <a:off x="2430117" y="4617202"/>
            <a:ext cx="5116721" cy="10500"/>
          </a:xfrm>
          <a:prstGeom prst="line">
            <a:avLst/>
          </a:prstGeom>
          <a:ln w="63500" cmpd="thinThick">
            <a:solidFill>
              <a:srgbClr val="0070C0"/>
            </a:solidFill>
          </a:ln>
          <a:effec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2" name="Straight Connector 181"/>
          <p:cNvCxnSpPr>
            <a:cxnSpLocks/>
          </p:cNvCxnSpPr>
          <p:nvPr/>
        </p:nvCxnSpPr>
        <p:spPr>
          <a:xfrm flipV="1">
            <a:off x="2961814" y="3620161"/>
            <a:ext cx="5091820" cy="9542"/>
          </a:xfrm>
          <a:prstGeom prst="line">
            <a:avLst/>
          </a:prstGeom>
          <a:ln w="63500" cmpd="thinThick">
            <a:solidFill>
              <a:srgbClr val="00B050"/>
            </a:solidFill>
          </a:ln>
          <a:effec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4" name="TextBox 183"/>
          <p:cNvSpPr txBox="1"/>
          <p:nvPr/>
        </p:nvSpPr>
        <p:spPr>
          <a:xfrm>
            <a:off x="1319931" y="3472594"/>
            <a:ext cx="990628" cy="365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87192">
              <a:spcAft>
                <a:spcPts val="360"/>
              </a:spcAft>
              <a:buSzPct val="100000"/>
            </a:pPr>
            <a:r>
              <a:rPr lang="en-US" sz="720">
                <a:solidFill>
                  <a:srgbClr val="0096D6"/>
                </a:solidFill>
                <a:cs typeface="HP Simplified" pitchFamily="34" charset="0"/>
              </a:rPr>
              <a:t>Product Marketing/ </a:t>
            </a:r>
          </a:p>
          <a:p>
            <a:pPr defTabSz="387192">
              <a:spcAft>
                <a:spcPts val="360"/>
              </a:spcAft>
              <a:buSzPct val="100000"/>
            </a:pPr>
            <a:r>
              <a:rPr lang="en-US" sz="720">
                <a:solidFill>
                  <a:srgbClr val="0096D6"/>
                </a:solidFill>
                <a:cs typeface="HP Simplified" pitchFamily="34" charset="0"/>
              </a:rPr>
              <a:t>Sales Enablement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052120" y="4534858"/>
            <a:ext cx="872864" cy="203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87192">
              <a:spcAft>
                <a:spcPts val="360"/>
              </a:spcAft>
              <a:buSzPct val="100000"/>
            </a:pPr>
            <a:r>
              <a:rPr lang="en-US" sz="720">
                <a:solidFill>
                  <a:srgbClr val="0096D6"/>
                </a:solidFill>
                <a:cs typeface="HP Simplified" pitchFamily="34" charset="0"/>
              </a:rPr>
              <a:t>Launch Manager</a:t>
            </a:r>
          </a:p>
        </p:txBody>
      </p:sp>
      <p:sp>
        <p:nvSpPr>
          <p:cNvPr id="189" name="Rectangle 114"/>
          <p:cNvSpPr>
            <a:spLocks noChangeArrowheads="1"/>
          </p:cNvSpPr>
          <p:nvPr/>
        </p:nvSpPr>
        <p:spPr bwMode="auto">
          <a:xfrm>
            <a:off x="5102774" y="4725747"/>
            <a:ext cx="789391" cy="166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411480"/>
            <a:r>
              <a:rPr lang="en-US" sz="540">
                <a:solidFill>
                  <a:srgbClr val="000000"/>
                </a:solidFill>
                <a:latin typeface="Arial" charset="0"/>
                <a:cs typeface="+mn-cs"/>
              </a:rPr>
              <a:t>Initiate Compliance Reviews</a:t>
            </a:r>
          </a:p>
        </p:txBody>
      </p:sp>
      <p:sp>
        <p:nvSpPr>
          <p:cNvPr id="190" name="Oval 189"/>
          <p:cNvSpPr/>
          <p:nvPr/>
        </p:nvSpPr>
        <p:spPr>
          <a:xfrm>
            <a:off x="2387476" y="4571870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92" name="Rectangle 114"/>
          <p:cNvSpPr>
            <a:spLocks noChangeArrowheads="1"/>
          </p:cNvSpPr>
          <p:nvPr/>
        </p:nvSpPr>
        <p:spPr bwMode="auto">
          <a:xfrm>
            <a:off x="4276249" y="3117390"/>
            <a:ext cx="554525" cy="199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16459" rIns="0" bIns="16459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Select Delivery Partners</a:t>
            </a:r>
          </a:p>
        </p:txBody>
      </p:sp>
      <p:sp>
        <p:nvSpPr>
          <p:cNvPr id="245" name="Oval 244"/>
          <p:cNvSpPr/>
          <p:nvPr/>
        </p:nvSpPr>
        <p:spPr>
          <a:xfrm>
            <a:off x="2914842" y="2973467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94" name="Oval 193"/>
          <p:cNvSpPr/>
          <p:nvPr/>
        </p:nvSpPr>
        <p:spPr>
          <a:xfrm>
            <a:off x="2914842" y="3574350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29" name="Oval 228"/>
          <p:cNvSpPr/>
          <p:nvPr/>
        </p:nvSpPr>
        <p:spPr>
          <a:xfrm>
            <a:off x="2914842" y="2433635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30" name="Oval 229"/>
          <p:cNvSpPr/>
          <p:nvPr/>
        </p:nvSpPr>
        <p:spPr>
          <a:xfrm>
            <a:off x="3113623" y="2973467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31" name="Rectangle 114"/>
          <p:cNvSpPr>
            <a:spLocks noChangeArrowheads="1"/>
          </p:cNvSpPr>
          <p:nvPr/>
        </p:nvSpPr>
        <p:spPr bwMode="auto">
          <a:xfrm>
            <a:off x="5200677" y="2171608"/>
            <a:ext cx="467202" cy="363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Q2C Capability Documentation</a:t>
            </a:r>
          </a:p>
        </p:txBody>
      </p:sp>
      <p:sp>
        <p:nvSpPr>
          <p:cNvPr id="232" name="Rectangle 114"/>
          <p:cNvSpPr>
            <a:spLocks noChangeArrowheads="1"/>
          </p:cNvSpPr>
          <p:nvPr/>
        </p:nvSpPr>
        <p:spPr bwMode="auto">
          <a:xfrm>
            <a:off x="2997873" y="3009608"/>
            <a:ext cx="519794" cy="363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Define Value Chain</a:t>
            </a:r>
          </a:p>
        </p:txBody>
      </p:sp>
      <p:sp>
        <p:nvSpPr>
          <p:cNvPr id="246" name="Rectangle 114"/>
          <p:cNvSpPr>
            <a:spLocks noChangeArrowheads="1"/>
          </p:cNvSpPr>
          <p:nvPr/>
        </p:nvSpPr>
        <p:spPr bwMode="auto">
          <a:xfrm>
            <a:off x="2420926" y="1971083"/>
            <a:ext cx="538169" cy="363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Customer Journey Map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6001367" y="2195276"/>
            <a:ext cx="505756" cy="25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SKU Creation</a:t>
            </a:r>
          </a:p>
        </p:txBody>
      </p:sp>
      <p:sp>
        <p:nvSpPr>
          <p:cNvPr id="255" name="Oval 254"/>
          <p:cNvSpPr/>
          <p:nvPr/>
        </p:nvSpPr>
        <p:spPr>
          <a:xfrm>
            <a:off x="6186138" y="1897461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56" name="Oval 255"/>
          <p:cNvSpPr/>
          <p:nvPr/>
        </p:nvSpPr>
        <p:spPr>
          <a:xfrm>
            <a:off x="6469907" y="2433635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88" name="Rectangle 114"/>
          <p:cNvSpPr>
            <a:spLocks noChangeArrowheads="1"/>
          </p:cNvSpPr>
          <p:nvPr/>
        </p:nvSpPr>
        <p:spPr bwMode="auto">
          <a:xfrm>
            <a:off x="3766461" y="3648102"/>
            <a:ext cx="293949" cy="280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srgbClr val="000000"/>
                </a:solidFill>
                <a:latin typeface="Arial" charset="0"/>
                <a:cs typeface="+mn-cs"/>
              </a:rPr>
              <a:t>XYZ</a:t>
            </a:r>
          </a:p>
        </p:txBody>
      </p:sp>
      <p:sp>
        <p:nvSpPr>
          <p:cNvPr id="290" name="Oval 289"/>
          <p:cNvSpPr/>
          <p:nvPr/>
        </p:nvSpPr>
        <p:spPr>
          <a:xfrm>
            <a:off x="4738449" y="3574350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92" name="Rectangle 114"/>
          <p:cNvSpPr>
            <a:spLocks noChangeArrowheads="1"/>
          </p:cNvSpPr>
          <p:nvPr/>
        </p:nvSpPr>
        <p:spPr bwMode="auto">
          <a:xfrm>
            <a:off x="4542297" y="3614531"/>
            <a:ext cx="518318" cy="363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Marketing BOM and Schedule</a:t>
            </a:r>
          </a:p>
        </p:txBody>
      </p:sp>
      <p:sp>
        <p:nvSpPr>
          <p:cNvPr id="293" name="Oval 292"/>
          <p:cNvSpPr/>
          <p:nvPr/>
        </p:nvSpPr>
        <p:spPr>
          <a:xfrm>
            <a:off x="2249735" y="1394728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94" name="Rectangle 114"/>
          <p:cNvSpPr>
            <a:spLocks noChangeArrowheads="1"/>
          </p:cNvSpPr>
          <p:nvPr/>
        </p:nvSpPr>
        <p:spPr bwMode="auto">
          <a:xfrm>
            <a:off x="1676112" y="1167086"/>
            <a:ext cx="829985" cy="280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Product Summit</a:t>
            </a:r>
          </a:p>
        </p:txBody>
      </p:sp>
      <p:sp>
        <p:nvSpPr>
          <p:cNvPr id="440" name="Oval 439"/>
          <p:cNvSpPr/>
          <p:nvPr/>
        </p:nvSpPr>
        <p:spPr>
          <a:xfrm>
            <a:off x="1461648" y="1897461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76" name="Rectangle 114"/>
          <p:cNvSpPr>
            <a:spLocks noChangeArrowheads="1"/>
          </p:cNvSpPr>
          <p:nvPr/>
        </p:nvSpPr>
        <p:spPr bwMode="auto">
          <a:xfrm>
            <a:off x="4294404" y="338847"/>
            <a:ext cx="1506539" cy="308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defTabSz="411480"/>
            <a:r>
              <a:rPr lang="en-US" sz="720" b="1">
                <a:solidFill>
                  <a:srgbClr val="0096D6"/>
                </a:solidFill>
                <a:latin typeface="Arial" charset="0"/>
                <a:cs typeface="+mn-cs"/>
              </a:rPr>
              <a:t>Key Milestones</a:t>
            </a:r>
          </a:p>
        </p:txBody>
      </p:sp>
      <p:sp>
        <p:nvSpPr>
          <p:cNvPr id="152" name="Oval 151"/>
          <p:cNvSpPr/>
          <p:nvPr/>
        </p:nvSpPr>
        <p:spPr>
          <a:xfrm>
            <a:off x="5455614" y="4571870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  <a:prstDash val="soli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3" name="Oval 152"/>
          <p:cNvSpPr/>
          <p:nvPr/>
        </p:nvSpPr>
        <p:spPr>
          <a:xfrm>
            <a:off x="5848018" y="442363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4" name="Rectangle 114"/>
          <p:cNvSpPr>
            <a:spLocks noChangeArrowheads="1"/>
          </p:cNvSpPr>
          <p:nvPr/>
        </p:nvSpPr>
        <p:spPr bwMode="auto">
          <a:xfrm>
            <a:off x="6007274" y="338847"/>
            <a:ext cx="717144" cy="308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defTabSz="411480"/>
            <a:r>
              <a:rPr lang="en-US" sz="720" b="1">
                <a:solidFill>
                  <a:srgbClr val="0096D6"/>
                </a:solidFill>
                <a:latin typeface="Arial" charset="0"/>
                <a:cs typeface="+mn-cs"/>
              </a:rPr>
              <a:t>Deliverables</a:t>
            </a:r>
          </a:p>
        </p:txBody>
      </p:sp>
      <p:sp>
        <p:nvSpPr>
          <p:cNvPr id="155" name="Oval 154"/>
          <p:cNvSpPr/>
          <p:nvPr/>
        </p:nvSpPr>
        <p:spPr>
          <a:xfrm>
            <a:off x="6830817" y="442363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6" name="Rectangle 114"/>
          <p:cNvSpPr>
            <a:spLocks noChangeArrowheads="1"/>
          </p:cNvSpPr>
          <p:nvPr/>
        </p:nvSpPr>
        <p:spPr bwMode="auto">
          <a:xfrm>
            <a:off x="6992795" y="338847"/>
            <a:ext cx="1643966" cy="308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defTabSz="411480"/>
            <a:r>
              <a:rPr lang="en-US" sz="720" b="1">
                <a:solidFill>
                  <a:srgbClr val="0096D6"/>
                </a:solidFill>
                <a:latin typeface="Arial" charset="0"/>
                <a:cs typeface="+mn-cs"/>
              </a:rPr>
              <a:t>Activities</a:t>
            </a:r>
          </a:p>
        </p:txBody>
      </p:sp>
      <p:sp>
        <p:nvSpPr>
          <p:cNvPr id="159" name="Rectangle 114"/>
          <p:cNvSpPr>
            <a:spLocks noChangeArrowheads="1"/>
          </p:cNvSpPr>
          <p:nvPr/>
        </p:nvSpPr>
        <p:spPr bwMode="auto">
          <a:xfrm>
            <a:off x="2183155" y="4082056"/>
            <a:ext cx="702780" cy="118193"/>
          </a:xfrm>
          <a:prstGeom prst="homePlat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8230" tIns="16459" rIns="8230" bIns="16459">
            <a:spAutoFit/>
          </a:bodyPr>
          <a:lstStyle/>
          <a:p>
            <a:pPr algn="ctr" defTabSz="411480"/>
            <a:r>
              <a:rPr lang="en-US" sz="540" i="1">
                <a:solidFill>
                  <a:srgbClr val="000000"/>
                </a:solidFill>
              </a:rPr>
              <a:t>Service Design Details</a:t>
            </a:r>
          </a:p>
        </p:txBody>
      </p:sp>
      <p:cxnSp>
        <p:nvCxnSpPr>
          <p:cNvPr id="160" name="Straight Connector 159"/>
          <p:cNvCxnSpPr>
            <a:cxnSpLocks/>
          </p:cNvCxnSpPr>
          <p:nvPr/>
        </p:nvCxnSpPr>
        <p:spPr>
          <a:xfrm>
            <a:off x="2961814" y="4127757"/>
            <a:ext cx="4578136" cy="13132"/>
          </a:xfrm>
          <a:prstGeom prst="line">
            <a:avLst/>
          </a:prstGeom>
          <a:ln w="63500" cmpd="thinThick">
            <a:solidFill>
              <a:srgbClr val="9966FF"/>
            </a:solidFill>
          </a:ln>
          <a:effec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61" name="TextBox 160"/>
          <p:cNvSpPr txBox="1"/>
          <p:nvPr/>
        </p:nvSpPr>
        <p:spPr>
          <a:xfrm>
            <a:off x="1517319" y="4039556"/>
            <a:ext cx="714416" cy="203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87192">
              <a:spcAft>
                <a:spcPts val="360"/>
              </a:spcAft>
              <a:buSzPct val="100000"/>
            </a:pPr>
            <a:r>
              <a:rPr lang="en-US" sz="720">
                <a:solidFill>
                  <a:srgbClr val="0096D6"/>
                </a:solidFill>
                <a:cs typeface="HP Simplified" pitchFamily="34" charset="0"/>
              </a:rPr>
              <a:t>  SW Platform</a:t>
            </a:r>
          </a:p>
        </p:txBody>
      </p:sp>
      <p:sp>
        <p:nvSpPr>
          <p:cNvPr id="163" name="Oval 162"/>
          <p:cNvSpPr/>
          <p:nvPr/>
        </p:nvSpPr>
        <p:spPr>
          <a:xfrm>
            <a:off x="2914842" y="4083741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73" name="Rectangle 114"/>
          <p:cNvSpPr>
            <a:spLocks noChangeArrowheads="1"/>
          </p:cNvSpPr>
          <p:nvPr/>
        </p:nvSpPr>
        <p:spPr bwMode="auto">
          <a:xfrm>
            <a:off x="3639363" y="4143453"/>
            <a:ext cx="648295" cy="363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srgbClr val="000000"/>
                </a:solidFill>
                <a:latin typeface="Arial" charset="0"/>
                <a:cs typeface="+mn-cs"/>
              </a:rPr>
              <a:t>SW Delivery Commitments</a:t>
            </a:r>
          </a:p>
        </p:txBody>
      </p:sp>
      <p:sp>
        <p:nvSpPr>
          <p:cNvPr id="198" name="Rectangle 114"/>
          <p:cNvSpPr>
            <a:spLocks noChangeArrowheads="1"/>
          </p:cNvSpPr>
          <p:nvPr/>
        </p:nvSpPr>
        <p:spPr bwMode="auto">
          <a:xfrm>
            <a:off x="2883029" y="4136858"/>
            <a:ext cx="753518" cy="280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srgbClr val="000000"/>
                </a:solidFill>
                <a:latin typeface="Arial" charset="0"/>
                <a:cs typeface="+mn-cs"/>
              </a:rPr>
              <a:t>Feature </a:t>
            </a:r>
            <a:r>
              <a:rPr lang="en-US" sz="540" err="1">
                <a:solidFill>
                  <a:srgbClr val="000000"/>
                </a:solidFill>
                <a:latin typeface="Arial" charset="0"/>
                <a:cs typeface="+mn-cs"/>
              </a:rPr>
              <a:t>Req’ts</a:t>
            </a:r>
            <a:endParaRPr lang="en-US" sz="540">
              <a:solidFill>
                <a:srgbClr val="000000"/>
              </a:solidFill>
              <a:latin typeface="Arial" charset="0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739018" y="4042650"/>
            <a:ext cx="1500598" cy="204703"/>
          </a:xfrm>
          <a:prstGeom prst="roundRect">
            <a:avLst/>
          </a:prstGeom>
          <a:solidFill>
            <a:srgbClr val="F05332">
              <a:alpha val="1607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3444" bIns="452628" rtlCol="0" anchor="t" anchorCtr="0"/>
          <a:lstStyle/>
          <a:p>
            <a:pPr defTabSz="411480"/>
            <a:r>
              <a:rPr lang="en-US" sz="72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</a:rPr>
              <a:t>SW Engineering</a:t>
            </a:r>
          </a:p>
        </p:txBody>
      </p:sp>
      <p:sp>
        <p:nvSpPr>
          <p:cNvPr id="196" name="Oval 195"/>
          <p:cNvSpPr/>
          <p:nvPr/>
        </p:nvSpPr>
        <p:spPr>
          <a:xfrm>
            <a:off x="4002168" y="4571870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  <a:prstDash val="soli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04" name="Oval 203"/>
          <p:cNvSpPr/>
          <p:nvPr/>
        </p:nvSpPr>
        <p:spPr>
          <a:xfrm>
            <a:off x="4539763" y="2973467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10" name="Diamond 209">
            <a:extLst>
              <a:ext uri="{FF2B5EF4-FFF2-40B4-BE49-F238E27FC236}">
                <a16:creationId xmlns:a16="http://schemas.microsoft.com/office/drawing/2014/main" id="{16BE019C-F0B2-43A6-94E5-AF0030B82590}"/>
              </a:ext>
            </a:extLst>
          </p:cNvPr>
          <p:cNvSpPr/>
          <p:nvPr/>
        </p:nvSpPr>
        <p:spPr>
          <a:xfrm>
            <a:off x="4056673" y="407748"/>
            <a:ext cx="161234" cy="179193"/>
          </a:xfrm>
          <a:prstGeom prst="diamond">
            <a:avLst/>
          </a:prstGeom>
          <a:solidFill>
            <a:schemeClr val="bg1"/>
          </a:solidFill>
          <a:ln w="38100">
            <a:solidFill>
              <a:schemeClr val="accent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1480"/>
            <a:endParaRPr lang="en-US">
              <a:solidFill>
                <a:prstClr val="white"/>
              </a:solidFill>
            </a:endParaRPr>
          </a:p>
        </p:txBody>
      </p:sp>
      <p:sp>
        <p:nvSpPr>
          <p:cNvPr id="217" name="Rectangle 114">
            <a:extLst>
              <a:ext uri="{FF2B5EF4-FFF2-40B4-BE49-F238E27FC236}">
                <a16:creationId xmlns:a16="http://schemas.microsoft.com/office/drawing/2014/main" id="{6FE0EFD5-9AF1-4072-97CD-1A3B3DB73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8612" y="2387950"/>
            <a:ext cx="521718" cy="199439"/>
          </a:xfrm>
          <a:prstGeom prst="homePlat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8230" tIns="16459" rIns="8230" bIns="16459">
            <a:spAutoFit/>
          </a:bodyPr>
          <a:lstStyle/>
          <a:p>
            <a:pPr algn="ctr" defTabSz="411480"/>
            <a:r>
              <a:rPr lang="en-US" sz="540" i="1">
                <a:solidFill>
                  <a:srgbClr val="000000"/>
                </a:solidFill>
              </a:rPr>
              <a:t>Service Design Details</a:t>
            </a:r>
          </a:p>
        </p:txBody>
      </p:sp>
      <p:sp>
        <p:nvSpPr>
          <p:cNvPr id="219" name="Pentagon 262">
            <a:extLst>
              <a:ext uri="{FF2B5EF4-FFF2-40B4-BE49-F238E27FC236}">
                <a16:creationId xmlns:a16="http://schemas.microsoft.com/office/drawing/2014/main" id="{3CCD9FD6-3FE6-461F-A76B-9F668E2D9B01}"/>
              </a:ext>
            </a:extLst>
          </p:cNvPr>
          <p:cNvSpPr/>
          <p:nvPr/>
        </p:nvSpPr>
        <p:spPr>
          <a:xfrm>
            <a:off x="1856444" y="3257742"/>
            <a:ext cx="677247" cy="116339"/>
          </a:xfrm>
          <a:prstGeom prst="homePlat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8230" tIns="16459" rIns="8230" bIns="16459">
            <a:spAutoFit/>
          </a:bodyPr>
          <a:lstStyle/>
          <a:p>
            <a:pPr algn="ctr" defTabSz="411480"/>
            <a:r>
              <a:rPr lang="en-US" sz="540" i="1">
                <a:solidFill>
                  <a:srgbClr val="000000"/>
                </a:solidFill>
              </a:rPr>
              <a:t>Customer Journey</a:t>
            </a:r>
          </a:p>
        </p:txBody>
      </p:sp>
      <p:cxnSp>
        <p:nvCxnSpPr>
          <p:cNvPr id="220" name="Elbow Connector 261">
            <a:extLst>
              <a:ext uri="{FF2B5EF4-FFF2-40B4-BE49-F238E27FC236}">
                <a16:creationId xmlns:a16="http://schemas.microsoft.com/office/drawing/2014/main" id="{D3F7C35F-195A-4BDC-A3CB-E4C0E04A9B81}"/>
              </a:ext>
            </a:extLst>
          </p:cNvPr>
          <p:cNvCxnSpPr>
            <a:cxnSpLocks/>
            <a:stCxn id="219" idx="3"/>
            <a:endCxn id="245" idx="4"/>
          </p:cNvCxnSpPr>
          <p:nvPr/>
        </p:nvCxnSpPr>
        <p:spPr>
          <a:xfrm flipV="1">
            <a:off x="2533691" y="3074632"/>
            <a:ext cx="430529" cy="2412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Pentagon 262">
            <a:extLst>
              <a:ext uri="{FF2B5EF4-FFF2-40B4-BE49-F238E27FC236}">
                <a16:creationId xmlns:a16="http://schemas.microsoft.com/office/drawing/2014/main" id="{70F03B6B-0A0E-4A99-91F1-76A821B2F29F}"/>
              </a:ext>
            </a:extLst>
          </p:cNvPr>
          <p:cNvSpPr/>
          <p:nvPr/>
        </p:nvSpPr>
        <p:spPr>
          <a:xfrm>
            <a:off x="2176758" y="3793410"/>
            <a:ext cx="694057" cy="116339"/>
          </a:xfrm>
          <a:prstGeom prst="homePlat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8230" tIns="16459" rIns="8230" bIns="16459">
            <a:spAutoFit/>
          </a:bodyPr>
          <a:lstStyle/>
          <a:p>
            <a:pPr algn="ctr" defTabSz="411480"/>
            <a:r>
              <a:rPr lang="en-US" sz="540" i="1">
                <a:solidFill>
                  <a:srgbClr val="000000"/>
                </a:solidFill>
              </a:rPr>
              <a:t>Service Design Details</a:t>
            </a:r>
          </a:p>
        </p:txBody>
      </p:sp>
      <p:cxnSp>
        <p:nvCxnSpPr>
          <p:cNvPr id="223" name="Elbow Connector 261">
            <a:extLst>
              <a:ext uri="{FF2B5EF4-FFF2-40B4-BE49-F238E27FC236}">
                <a16:creationId xmlns:a16="http://schemas.microsoft.com/office/drawing/2014/main" id="{F47BDAFB-9DE9-44CE-BE34-7C08C950475F}"/>
              </a:ext>
            </a:extLst>
          </p:cNvPr>
          <p:cNvCxnSpPr>
            <a:cxnSpLocks/>
            <a:stCxn id="222" idx="3"/>
            <a:endCxn id="194" idx="4"/>
          </p:cNvCxnSpPr>
          <p:nvPr/>
        </p:nvCxnSpPr>
        <p:spPr>
          <a:xfrm flipV="1">
            <a:off x="2870815" y="3675515"/>
            <a:ext cx="93405" cy="17606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Rectangle 114">
            <a:extLst>
              <a:ext uri="{FF2B5EF4-FFF2-40B4-BE49-F238E27FC236}">
                <a16:creationId xmlns:a16="http://schemas.microsoft.com/office/drawing/2014/main" id="{C8CFC1B0-1589-4822-BCDB-4C93B3946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7510" y="2978742"/>
            <a:ext cx="694057" cy="116339"/>
          </a:xfrm>
          <a:prstGeom prst="homePlat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8230" tIns="16459" rIns="8230" bIns="16459">
            <a:spAutoFit/>
          </a:bodyPr>
          <a:lstStyle/>
          <a:p>
            <a:pPr algn="ctr" defTabSz="411480"/>
            <a:r>
              <a:rPr lang="en-US" sz="540" i="1">
                <a:solidFill>
                  <a:srgbClr val="000000"/>
                </a:solidFill>
              </a:rPr>
              <a:t>Service Design Details</a:t>
            </a:r>
          </a:p>
        </p:txBody>
      </p:sp>
      <p:sp>
        <p:nvSpPr>
          <p:cNvPr id="233" name="Rectangle 114">
            <a:extLst>
              <a:ext uri="{FF2B5EF4-FFF2-40B4-BE49-F238E27FC236}">
                <a16:creationId xmlns:a16="http://schemas.microsoft.com/office/drawing/2014/main" id="{0043D4E5-6733-461D-94D7-EA3DA9EC4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9587" y="3530422"/>
            <a:ext cx="694057" cy="199439"/>
          </a:xfrm>
          <a:prstGeom prst="homePlat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8230" tIns="16459" rIns="8230" bIns="16459">
            <a:spAutoFit/>
          </a:bodyPr>
          <a:lstStyle/>
          <a:p>
            <a:pPr algn="ctr" defTabSz="411480"/>
            <a:r>
              <a:rPr lang="en-US" sz="540" i="1">
                <a:solidFill>
                  <a:srgbClr val="000000"/>
                </a:solidFill>
              </a:rPr>
              <a:t>Target Customer Profile</a:t>
            </a:r>
          </a:p>
        </p:txBody>
      </p:sp>
      <p:cxnSp>
        <p:nvCxnSpPr>
          <p:cNvPr id="234" name="Elbow Connector 261">
            <a:extLst>
              <a:ext uri="{FF2B5EF4-FFF2-40B4-BE49-F238E27FC236}">
                <a16:creationId xmlns:a16="http://schemas.microsoft.com/office/drawing/2014/main" id="{682911D0-2512-43C4-A597-585F30D330D7}"/>
              </a:ext>
            </a:extLst>
          </p:cNvPr>
          <p:cNvCxnSpPr>
            <a:cxnSpLocks/>
            <a:stCxn id="219" idx="3"/>
            <a:endCxn id="194" idx="0"/>
          </p:cNvCxnSpPr>
          <p:nvPr/>
        </p:nvCxnSpPr>
        <p:spPr>
          <a:xfrm>
            <a:off x="2533691" y="3315912"/>
            <a:ext cx="430529" cy="25843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Rectangle 114">
            <a:extLst>
              <a:ext uri="{FF2B5EF4-FFF2-40B4-BE49-F238E27FC236}">
                <a16:creationId xmlns:a16="http://schemas.microsoft.com/office/drawing/2014/main" id="{49627BE4-7425-422E-A180-3C57EC68C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1112" y="4529898"/>
            <a:ext cx="521718" cy="199439"/>
          </a:xfrm>
          <a:prstGeom prst="homePlat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8230" tIns="16459" rIns="8230" bIns="16459">
            <a:spAutoFit/>
          </a:bodyPr>
          <a:lstStyle/>
          <a:p>
            <a:pPr algn="ctr" defTabSz="411480"/>
            <a:r>
              <a:rPr lang="en-US" sz="540" i="1">
                <a:solidFill>
                  <a:srgbClr val="000000"/>
                </a:solidFill>
              </a:rPr>
              <a:t>Phase 1 Approval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25D32902-BFE5-46A6-941F-B1BD6F4DF47C}"/>
              </a:ext>
            </a:extLst>
          </p:cNvPr>
          <p:cNvCxnSpPr>
            <a:cxnSpLocks/>
          </p:cNvCxnSpPr>
          <p:nvPr/>
        </p:nvCxnSpPr>
        <p:spPr>
          <a:xfrm flipV="1">
            <a:off x="4810666" y="1582780"/>
            <a:ext cx="2706321" cy="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oval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7" name="Oval 236">
            <a:extLst>
              <a:ext uri="{FF2B5EF4-FFF2-40B4-BE49-F238E27FC236}">
                <a16:creationId xmlns:a16="http://schemas.microsoft.com/office/drawing/2014/main" id="{992D0F81-6951-45D0-82F5-78D648C9E2FF}"/>
              </a:ext>
            </a:extLst>
          </p:cNvPr>
          <p:cNvSpPr/>
          <p:nvPr/>
        </p:nvSpPr>
        <p:spPr>
          <a:xfrm>
            <a:off x="1802992" y="1897461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38" name="Rectangle 114">
            <a:extLst>
              <a:ext uri="{FF2B5EF4-FFF2-40B4-BE49-F238E27FC236}">
                <a16:creationId xmlns:a16="http://schemas.microsoft.com/office/drawing/2014/main" id="{A2298D55-DD90-4824-9C32-00E503DB1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6827" y="1582952"/>
            <a:ext cx="644126" cy="363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High-Level Value Prop</a:t>
            </a:r>
          </a:p>
        </p:txBody>
      </p:sp>
      <p:sp>
        <p:nvSpPr>
          <p:cNvPr id="150" name="Rounded Rectangle 149"/>
          <p:cNvSpPr/>
          <p:nvPr/>
        </p:nvSpPr>
        <p:spPr>
          <a:xfrm flipH="1">
            <a:off x="2226330" y="1533031"/>
            <a:ext cx="146393" cy="818929"/>
          </a:xfrm>
          <a:prstGeom prst="roundRect">
            <a:avLst>
              <a:gd name="adj" fmla="val 50000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vert270"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000000">
                    <a:lumMod val="95000"/>
                    <a:lumOff val="5000"/>
                  </a:srgbClr>
                </a:solidFill>
              </a:rPr>
              <a:t>Alignment</a:t>
            </a:r>
          </a:p>
        </p:txBody>
      </p:sp>
      <p:sp>
        <p:nvSpPr>
          <p:cNvPr id="239" name="Rectangle 114">
            <a:extLst>
              <a:ext uri="{FF2B5EF4-FFF2-40B4-BE49-F238E27FC236}">
                <a16:creationId xmlns:a16="http://schemas.microsoft.com/office/drawing/2014/main" id="{B1381109-9FB3-4F97-988C-FB46CFFEA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4951" y="4627097"/>
            <a:ext cx="753518" cy="280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srgbClr val="000000"/>
                </a:solidFill>
                <a:latin typeface="Arial" charset="0"/>
                <a:cs typeface="+mn-cs"/>
              </a:rPr>
              <a:t>Core Team Staffing</a:t>
            </a:r>
          </a:p>
        </p:txBody>
      </p:sp>
      <p:sp>
        <p:nvSpPr>
          <p:cNvPr id="244" name="Rectangle 114">
            <a:extLst>
              <a:ext uri="{FF2B5EF4-FFF2-40B4-BE49-F238E27FC236}">
                <a16:creationId xmlns:a16="http://schemas.microsoft.com/office/drawing/2014/main" id="{0BC65A12-6EEA-4D8F-B1D8-01588E6D5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929" y="1598580"/>
            <a:ext cx="644126" cy="363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Service Design Details</a:t>
            </a:r>
          </a:p>
        </p:txBody>
      </p:sp>
      <p:sp>
        <p:nvSpPr>
          <p:cNvPr id="249" name="Oval 248">
            <a:extLst>
              <a:ext uri="{FF2B5EF4-FFF2-40B4-BE49-F238E27FC236}">
                <a16:creationId xmlns:a16="http://schemas.microsoft.com/office/drawing/2014/main" id="{5BB662A5-64B9-45D2-B96D-D22703E0BDBC}"/>
              </a:ext>
            </a:extLst>
          </p:cNvPr>
          <p:cNvSpPr/>
          <p:nvPr/>
        </p:nvSpPr>
        <p:spPr>
          <a:xfrm>
            <a:off x="2914842" y="1897461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50" name="Diamond 249">
            <a:extLst>
              <a:ext uri="{FF2B5EF4-FFF2-40B4-BE49-F238E27FC236}">
                <a16:creationId xmlns:a16="http://schemas.microsoft.com/office/drawing/2014/main" id="{8D0F65C2-417C-4A12-B7F2-4C05287915BD}"/>
              </a:ext>
            </a:extLst>
          </p:cNvPr>
          <p:cNvSpPr/>
          <p:nvPr/>
        </p:nvSpPr>
        <p:spPr>
          <a:xfrm>
            <a:off x="2883602" y="1355714"/>
            <a:ext cx="161234" cy="179193"/>
          </a:xfrm>
          <a:prstGeom prst="diamond">
            <a:avLst/>
          </a:prstGeom>
          <a:solidFill>
            <a:schemeClr val="bg1"/>
          </a:solidFill>
          <a:ln w="38100">
            <a:solidFill>
              <a:schemeClr val="accent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1480"/>
            <a:endParaRPr lang="en-US">
              <a:solidFill>
                <a:prstClr val="white"/>
              </a:solidFill>
            </a:endParaRPr>
          </a:p>
        </p:txBody>
      </p:sp>
      <p:sp>
        <p:nvSpPr>
          <p:cNvPr id="251" name="Rectangle 114">
            <a:extLst>
              <a:ext uri="{FF2B5EF4-FFF2-40B4-BE49-F238E27FC236}">
                <a16:creationId xmlns:a16="http://schemas.microsoft.com/office/drawing/2014/main" id="{46115285-675E-4A7B-B1CF-8E12DF94C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6162" y="1128073"/>
            <a:ext cx="1095078" cy="294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630" b="1">
                <a:solidFill>
                  <a:srgbClr val="0096D6"/>
                </a:solidFill>
                <a:latin typeface="Arial" charset="0"/>
                <a:cs typeface="+mn-cs"/>
              </a:rPr>
              <a:t>Initial Design</a:t>
            </a:r>
          </a:p>
        </p:txBody>
      </p:sp>
      <p:sp>
        <p:nvSpPr>
          <p:cNvPr id="252" name="Oval 251">
            <a:extLst>
              <a:ext uri="{FF2B5EF4-FFF2-40B4-BE49-F238E27FC236}">
                <a16:creationId xmlns:a16="http://schemas.microsoft.com/office/drawing/2014/main" id="{E5CC8404-0085-4BA8-AA7B-7938262686A3}"/>
              </a:ext>
            </a:extLst>
          </p:cNvPr>
          <p:cNvSpPr/>
          <p:nvPr/>
        </p:nvSpPr>
        <p:spPr>
          <a:xfrm>
            <a:off x="3145436" y="3574350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60" name="Rectangle 114">
            <a:extLst>
              <a:ext uri="{FF2B5EF4-FFF2-40B4-BE49-F238E27FC236}">
                <a16:creationId xmlns:a16="http://schemas.microsoft.com/office/drawing/2014/main" id="{3A28074D-8CE9-44C0-8A42-4666752FB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286" y="3639865"/>
            <a:ext cx="523348" cy="363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srgbClr val="000000"/>
                </a:solidFill>
                <a:latin typeface="Arial" charset="0"/>
                <a:cs typeface="+mn-cs"/>
              </a:rPr>
              <a:t>Engagement Model</a:t>
            </a:r>
          </a:p>
        </p:txBody>
      </p:sp>
      <p:sp>
        <p:nvSpPr>
          <p:cNvPr id="264" name="Oval 263">
            <a:extLst>
              <a:ext uri="{FF2B5EF4-FFF2-40B4-BE49-F238E27FC236}">
                <a16:creationId xmlns:a16="http://schemas.microsoft.com/office/drawing/2014/main" id="{259D62E4-240B-4697-8743-709DEBF74842}"/>
              </a:ext>
            </a:extLst>
          </p:cNvPr>
          <p:cNvSpPr/>
          <p:nvPr/>
        </p:nvSpPr>
        <p:spPr>
          <a:xfrm>
            <a:off x="3108576" y="2433635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68" name="Oval 267">
            <a:extLst>
              <a:ext uri="{FF2B5EF4-FFF2-40B4-BE49-F238E27FC236}">
                <a16:creationId xmlns:a16="http://schemas.microsoft.com/office/drawing/2014/main" id="{97E3B295-CB74-436A-8854-545CEFE2D02F}"/>
              </a:ext>
            </a:extLst>
          </p:cNvPr>
          <p:cNvSpPr/>
          <p:nvPr/>
        </p:nvSpPr>
        <p:spPr>
          <a:xfrm>
            <a:off x="3148119" y="4083741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71" name="Rounded Rectangle 149">
            <a:extLst>
              <a:ext uri="{FF2B5EF4-FFF2-40B4-BE49-F238E27FC236}">
                <a16:creationId xmlns:a16="http://schemas.microsoft.com/office/drawing/2014/main" id="{0241AECB-4DA4-4ADF-A38B-66E9A90E77CE}"/>
              </a:ext>
            </a:extLst>
          </p:cNvPr>
          <p:cNvSpPr/>
          <p:nvPr/>
        </p:nvSpPr>
        <p:spPr>
          <a:xfrm flipH="1">
            <a:off x="3562880" y="2061867"/>
            <a:ext cx="146393" cy="2415185"/>
          </a:xfrm>
          <a:prstGeom prst="roundRect">
            <a:avLst>
              <a:gd name="adj" fmla="val 50000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vert270"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000000">
                    <a:lumMod val="95000"/>
                    <a:lumOff val="5000"/>
                  </a:srgbClr>
                </a:solidFill>
              </a:rPr>
              <a:t>Feasibility and Risk Review</a:t>
            </a:r>
          </a:p>
        </p:txBody>
      </p:sp>
      <p:sp>
        <p:nvSpPr>
          <p:cNvPr id="273" name="Oval 272">
            <a:extLst>
              <a:ext uri="{FF2B5EF4-FFF2-40B4-BE49-F238E27FC236}">
                <a16:creationId xmlns:a16="http://schemas.microsoft.com/office/drawing/2014/main" id="{D1D21EB8-892D-4B5D-AFDB-F472CB7B78BA}"/>
              </a:ext>
            </a:extLst>
          </p:cNvPr>
          <p:cNvSpPr/>
          <p:nvPr/>
        </p:nvSpPr>
        <p:spPr>
          <a:xfrm>
            <a:off x="3585568" y="4571870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  <a:prstDash val="soli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80" name="Rectangle 114">
            <a:extLst>
              <a:ext uri="{FF2B5EF4-FFF2-40B4-BE49-F238E27FC236}">
                <a16:creationId xmlns:a16="http://schemas.microsoft.com/office/drawing/2014/main" id="{3CD4E54F-9BE0-4221-B1DB-2996389CA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1281" y="4368453"/>
            <a:ext cx="753518" cy="280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srgbClr val="000000"/>
                </a:solidFill>
                <a:latin typeface="Arial" charset="0"/>
                <a:cs typeface="+mn-cs"/>
              </a:rPr>
              <a:t>Resource Plan</a:t>
            </a:r>
          </a:p>
        </p:txBody>
      </p:sp>
      <p:sp>
        <p:nvSpPr>
          <p:cNvPr id="284" name="Oval 283">
            <a:extLst>
              <a:ext uri="{FF2B5EF4-FFF2-40B4-BE49-F238E27FC236}">
                <a16:creationId xmlns:a16="http://schemas.microsoft.com/office/drawing/2014/main" id="{2D43EA81-F312-4C23-BD49-05F5AC74C08D}"/>
              </a:ext>
            </a:extLst>
          </p:cNvPr>
          <p:cNvSpPr/>
          <p:nvPr/>
        </p:nvSpPr>
        <p:spPr>
          <a:xfrm>
            <a:off x="3579115" y="1897461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97" name="Rectangle 114">
            <a:extLst>
              <a:ext uri="{FF2B5EF4-FFF2-40B4-BE49-F238E27FC236}">
                <a16:creationId xmlns:a16="http://schemas.microsoft.com/office/drawing/2014/main" id="{D8AA8C6B-2B99-4AE6-A874-A4659F9FE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6609" y="1586550"/>
            <a:ext cx="580136" cy="363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Profitability Analysis</a:t>
            </a:r>
          </a:p>
        </p:txBody>
      </p:sp>
      <p:sp>
        <p:nvSpPr>
          <p:cNvPr id="299" name="Oval 298">
            <a:extLst>
              <a:ext uri="{FF2B5EF4-FFF2-40B4-BE49-F238E27FC236}">
                <a16:creationId xmlns:a16="http://schemas.microsoft.com/office/drawing/2014/main" id="{98AB58BE-9FB8-49D3-883A-B7577F03B57B}"/>
              </a:ext>
            </a:extLst>
          </p:cNvPr>
          <p:cNvSpPr/>
          <p:nvPr/>
        </p:nvSpPr>
        <p:spPr>
          <a:xfrm>
            <a:off x="3822127" y="3574350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01" name="Oval 300">
            <a:extLst>
              <a:ext uri="{FF2B5EF4-FFF2-40B4-BE49-F238E27FC236}">
                <a16:creationId xmlns:a16="http://schemas.microsoft.com/office/drawing/2014/main" id="{64FC9A10-8CAB-4798-B9F3-90B3E62ECA76}"/>
              </a:ext>
            </a:extLst>
          </p:cNvPr>
          <p:cNvSpPr/>
          <p:nvPr/>
        </p:nvSpPr>
        <p:spPr>
          <a:xfrm>
            <a:off x="3825979" y="4083741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71" name="Oval 170"/>
          <p:cNvSpPr/>
          <p:nvPr/>
        </p:nvSpPr>
        <p:spPr>
          <a:xfrm>
            <a:off x="5116121" y="4083741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  <a:prstDash val="soli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02" name="Oval 301">
            <a:extLst>
              <a:ext uri="{FF2B5EF4-FFF2-40B4-BE49-F238E27FC236}">
                <a16:creationId xmlns:a16="http://schemas.microsoft.com/office/drawing/2014/main" id="{27793A85-D737-46C4-9A7E-C913791CDA1C}"/>
              </a:ext>
            </a:extLst>
          </p:cNvPr>
          <p:cNvSpPr/>
          <p:nvPr/>
        </p:nvSpPr>
        <p:spPr>
          <a:xfrm>
            <a:off x="3799447" y="4571870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  <a:prstDash val="soli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03" name="Rectangle 114">
            <a:extLst>
              <a:ext uri="{FF2B5EF4-FFF2-40B4-BE49-F238E27FC236}">
                <a16:creationId xmlns:a16="http://schemas.microsoft.com/office/drawing/2014/main" id="{0D0A3494-ECCF-493C-9AB0-B727F2134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2664" y="4634642"/>
            <a:ext cx="441995" cy="363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srgbClr val="000000"/>
                </a:solidFill>
                <a:latin typeface="Arial" charset="0"/>
                <a:cs typeface="+mn-cs"/>
              </a:rPr>
              <a:t>Validation Plan</a:t>
            </a:r>
          </a:p>
        </p:txBody>
      </p:sp>
      <p:sp>
        <p:nvSpPr>
          <p:cNvPr id="304" name="Rectangle 114">
            <a:extLst>
              <a:ext uri="{FF2B5EF4-FFF2-40B4-BE49-F238E27FC236}">
                <a16:creationId xmlns:a16="http://schemas.microsoft.com/office/drawing/2014/main" id="{58FB2A2A-EF4B-4A52-823D-A4ACA9E16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0199" y="4349388"/>
            <a:ext cx="753518" cy="280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srgbClr val="000000"/>
                </a:solidFill>
                <a:latin typeface="Arial" charset="0"/>
                <a:cs typeface="+mn-cs"/>
              </a:rPr>
              <a:t>Launch Timing</a:t>
            </a:r>
          </a:p>
        </p:txBody>
      </p:sp>
      <p:sp>
        <p:nvSpPr>
          <p:cNvPr id="305" name="Oval 304">
            <a:extLst>
              <a:ext uri="{FF2B5EF4-FFF2-40B4-BE49-F238E27FC236}">
                <a16:creationId xmlns:a16="http://schemas.microsoft.com/office/drawing/2014/main" id="{061AE453-7AB0-44CB-BF76-EAB1AA8A41C5}"/>
              </a:ext>
            </a:extLst>
          </p:cNvPr>
          <p:cNvSpPr/>
          <p:nvPr/>
        </p:nvSpPr>
        <p:spPr>
          <a:xfrm>
            <a:off x="3932091" y="1897461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06" name="Rectangle 114">
            <a:extLst>
              <a:ext uri="{FF2B5EF4-FFF2-40B4-BE49-F238E27FC236}">
                <a16:creationId xmlns:a16="http://schemas.microsoft.com/office/drawing/2014/main" id="{72E0F6AA-0E30-4570-B614-E9F4DC86B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0308" y="1923967"/>
            <a:ext cx="580136" cy="280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KPI Strategy</a:t>
            </a:r>
          </a:p>
        </p:txBody>
      </p:sp>
      <p:sp>
        <p:nvSpPr>
          <p:cNvPr id="307" name="Oval 306">
            <a:extLst>
              <a:ext uri="{FF2B5EF4-FFF2-40B4-BE49-F238E27FC236}">
                <a16:creationId xmlns:a16="http://schemas.microsoft.com/office/drawing/2014/main" id="{9ADE61EE-4549-4BF0-B8B1-BD5C3AE7E1F2}"/>
              </a:ext>
            </a:extLst>
          </p:cNvPr>
          <p:cNvSpPr/>
          <p:nvPr/>
        </p:nvSpPr>
        <p:spPr>
          <a:xfrm>
            <a:off x="3996144" y="1394728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08" name="Rectangle 114">
            <a:extLst>
              <a:ext uri="{FF2B5EF4-FFF2-40B4-BE49-F238E27FC236}">
                <a16:creationId xmlns:a16="http://schemas.microsoft.com/office/drawing/2014/main" id="{1ABD6A00-34B9-4CA1-8D6A-64381E6E3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4698" y="1114280"/>
            <a:ext cx="365379" cy="363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Exit Reviews</a:t>
            </a:r>
          </a:p>
        </p:txBody>
      </p:sp>
      <p:sp>
        <p:nvSpPr>
          <p:cNvPr id="309" name="Oval 308">
            <a:extLst>
              <a:ext uri="{FF2B5EF4-FFF2-40B4-BE49-F238E27FC236}">
                <a16:creationId xmlns:a16="http://schemas.microsoft.com/office/drawing/2014/main" id="{24E22926-ED6D-43F0-A484-65156345D75B}"/>
              </a:ext>
            </a:extLst>
          </p:cNvPr>
          <p:cNvSpPr/>
          <p:nvPr/>
        </p:nvSpPr>
        <p:spPr>
          <a:xfrm>
            <a:off x="4539763" y="2433635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12" name="Rectangle 114">
            <a:extLst>
              <a:ext uri="{FF2B5EF4-FFF2-40B4-BE49-F238E27FC236}">
                <a16:creationId xmlns:a16="http://schemas.microsoft.com/office/drawing/2014/main" id="{FBA3AD6F-5081-4111-A6B0-29D1E7E4C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1081" y="1515939"/>
            <a:ext cx="580136" cy="446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Pricing / Discounting Strategy</a:t>
            </a:r>
          </a:p>
        </p:txBody>
      </p:sp>
      <p:sp>
        <p:nvSpPr>
          <p:cNvPr id="314" name="Oval 313">
            <a:extLst>
              <a:ext uri="{FF2B5EF4-FFF2-40B4-BE49-F238E27FC236}">
                <a16:creationId xmlns:a16="http://schemas.microsoft.com/office/drawing/2014/main" id="{969B36CE-FD5E-4B43-81B3-C4205CAB9EEB}"/>
              </a:ext>
            </a:extLst>
          </p:cNvPr>
          <p:cNvSpPr/>
          <p:nvPr/>
        </p:nvSpPr>
        <p:spPr>
          <a:xfrm>
            <a:off x="4241865" y="1897461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15" name="Rectangle 114">
            <a:extLst>
              <a:ext uri="{FF2B5EF4-FFF2-40B4-BE49-F238E27FC236}">
                <a16:creationId xmlns:a16="http://schemas.microsoft.com/office/drawing/2014/main" id="{29C031C0-E825-461F-8699-ACAA447B8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5753" y="1577787"/>
            <a:ext cx="498041" cy="363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Prepare Forecast</a:t>
            </a:r>
          </a:p>
        </p:txBody>
      </p:sp>
      <p:sp>
        <p:nvSpPr>
          <p:cNvPr id="316" name="Oval 315">
            <a:extLst>
              <a:ext uri="{FF2B5EF4-FFF2-40B4-BE49-F238E27FC236}">
                <a16:creationId xmlns:a16="http://schemas.microsoft.com/office/drawing/2014/main" id="{858C6413-D01D-4177-AA99-5E15F1288231}"/>
              </a:ext>
            </a:extLst>
          </p:cNvPr>
          <p:cNvSpPr/>
          <p:nvPr/>
        </p:nvSpPr>
        <p:spPr>
          <a:xfrm>
            <a:off x="4869253" y="1897461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17" name="Oval 316">
            <a:extLst>
              <a:ext uri="{FF2B5EF4-FFF2-40B4-BE49-F238E27FC236}">
                <a16:creationId xmlns:a16="http://schemas.microsoft.com/office/drawing/2014/main" id="{8815F799-619F-44CC-B691-1771FDA86743}"/>
              </a:ext>
            </a:extLst>
          </p:cNvPr>
          <p:cNvSpPr/>
          <p:nvPr/>
        </p:nvSpPr>
        <p:spPr>
          <a:xfrm>
            <a:off x="5449966" y="2973467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18" name="Rectangle 114">
            <a:extLst>
              <a:ext uri="{FF2B5EF4-FFF2-40B4-BE49-F238E27FC236}">
                <a16:creationId xmlns:a16="http://schemas.microsoft.com/office/drawing/2014/main" id="{C5D8415F-A3BC-4437-AC98-FF1627B52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2843" y="3005533"/>
            <a:ext cx="498041" cy="446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Update Playbook &amp; SOPs </a:t>
            </a:r>
          </a:p>
        </p:txBody>
      </p:sp>
      <p:sp>
        <p:nvSpPr>
          <p:cNvPr id="320" name="Rectangle 114">
            <a:extLst>
              <a:ext uri="{FF2B5EF4-FFF2-40B4-BE49-F238E27FC236}">
                <a16:creationId xmlns:a16="http://schemas.microsoft.com/office/drawing/2014/main" id="{9A240F27-CF90-44E6-8D77-7EE202352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9071" y="2677584"/>
            <a:ext cx="433040" cy="363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Build Capability</a:t>
            </a:r>
          </a:p>
        </p:txBody>
      </p:sp>
      <p:sp>
        <p:nvSpPr>
          <p:cNvPr id="327" name="Rectangle 114">
            <a:extLst>
              <a:ext uri="{FF2B5EF4-FFF2-40B4-BE49-F238E27FC236}">
                <a16:creationId xmlns:a16="http://schemas.microsoft.com/office/drawing/2014/main" id="{C14EDC22-F1C4-4BA4-83D5-E1CA47A08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6227" y="2492696"/>
            <a:ext cx="467202" cy="363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High-Level Q2C</a:t>
            </a:r>
          </a:p>
        </p:txBody>
      </p:sp>
      <p:sp>
        <p:nvSpPr>
          <p:cNvPr id="328" name="Oval 327">
            <a:extLst>
              <a:ext uri="{FF2B5EF4-FFF2-40B4-BE49-F238E27FC236}">
                <a16:creationId xmlns:a16="http://schemas.microsoft.com/office/drawing/2014/main" id="{46DBE4EC-EC82-456E-9BF2-CB33EE96095F}"/>
              </a:ext>
            </a:extLst>
          </p:cNvPr>
          <p:cNvSpPr/>
          <p:nvPr/>
        </p:nvSpPr>
        <p:spPr>
          <a:xfrm>
            <a:off x="4678266" y="4083741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  <a:prstDash val="soli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29" name="Rectangle 114">
            <a:extLst>
              <a:ext uri="{FF2B5EF4-FFF2-40B4-BE49-F238E27FC236}">
                <a16:creationId xmlns:a16="http://schemas.microsoft.com/office/drawing/2014/main" id="{9D06A061-631B-41FB-859C-A8DFE1397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627" y="4141666"/>
            <a:ext cx="532573" cy="363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srgbClr val="000000"/>
                </a:solidFill>
                <a:latin typeface="Arial" charset="0"/>
                <a:cs typeface="+mn-cs"/>
              </a:rPr>
              <a:t>Code Development</a:t>
            </a:r>
          </a:p>
        </p:txBody>
      </p:sp>
      <p:sp>
        <p:nvSpPr>
          <p:cNvPr id="330" name="Rectangle 114">
            <a:extLst>
              <a:ext uri="{FF2B5EF4-FFF2-40B4-BE49-F238E27FC236}">
                <a16:creationId xmlns:a16="http://schemas.microsoft.com/office/drawing/2014/main" id="{5A866C8F-FD91-418A-95BE-CCFE4008D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0108" y="3815219"/>
            <a:ext cx="648295" cy="280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srgbClr val="000000"/>
                </a:solidFill>
                <a:latin typeface="Arial" charset="0"/>
                <a:cs typeface="+mn-cs"/>
              </a:rPr>
              <a:t>Code Release</a:t>
            </a:r>
          </a:p>
        </p:txBody>
      </p:sp>
      <p:sp>
        <p:nvSpPr>
          <p:cNvPr id="332" name="Oval 331">
            <a:extLst>
              <a:ext uri="{FF2B5EF4-FFF2-40B4-BE49-F238E27FC236}">
                <a16:creationId xmlns:a16="http://schemas.microsoft.com/office/drawing/2014/main" id="{DABDBEEA-31B1-4536-ABA2-9F090B21EA02}"/>
              </a:ext>
            </a:extLst>
          </p:cNvPr>
          <p:cNvSpPr/>
          <p:nvPr/>
        </p:nvSpPr>
        <p:spPr>
          <a:xfrm>
            <a:off x="3250494" y="1897461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33" name="Rectangle 114">
            <a:extLst>
              <a:ext uri="{FF2B5EF4-FFF2-40B4-BE49-F238E27FC236}">
                <a16:creationId xmlns:a16="http://schemas.microsoft.com/office/drawing/2014/main" id="{12D991AF-90C0-42EF-8D75-9078B5550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1949" y="1927479"/>
            <a:ext cx="407007" cy="363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Stage 1 Prototype</a:t>
            </a:r>
          </a:p>
        </p:txBody>
      </p:sp>
      <p:sp>
        <p:nvSpPr>
          <p:cNvPr id="334" name="Rectangle 114">
            <a:extLst>
              <a:ext uri="{FF2B5EF4-FFF2-40B4-BE49-F238E27FC236}">
                <a16:creationId xmlns:a16="http://schemas.microsoft.com/office/drawing/2014/main" id="{720C1252-D6C6-4D47-9985-5EB6C7128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800" y="1586886"/>
            <a:ext cx="407007" cy="363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Stage 2 Prototype</a:t>
            </a:r>
          </a:p>
        </p:txBody>
      </p:sp>
      <p:sp>
        <p:nvSpPr>
          <p:cNvPr id="335" name="Oval 334">
            <a:extLst>
              <a:ext uri="{FF2B5EF4-FFF2-40B4-BE49-F238E27FC236}">
                <a16:creationId xmlns:a16="http://schemas.microsoft.com/office/drawing/2014/main" id="{CF48F607-0813-4910-BEB6-E41A55BC1E7F}"/>
              </a:ext>
            </a:extLst>
          </p:cNvPr>
          <p:cNvSpPr/>
          <p:nvPr/>
        </p:nvSpPr>
        <p:spPr>
          <a:xfrm>
            <a:off x="5212813" y="1897461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36" name="Diamond 335">
            <a:extLst>
              <a:ext uri="{FF2B5EF4-FFF2-40B4-BE49-F238E27FC236}">
                <a16:creationId xmlns:a16="http://schemas.microsoft.com/office/drawing/2014/main" id="{E9F8A111-4E82-4BF4-87D9-45876982E872}"/>
              </a:ext>
            </a:extLst>
          </p:cNvPr>
          <p:cNvSpPr/>
          <p:nvPr/>
        </p:nvSpPr>
        <p:spPr>
          <a:xfrm>
            <a:off x="5084881" y="1355714"/>
            <a:ext cx="161234" cy="179193"/>
          </a:xfrm>
          <a:prstGeom prst="diamond">
            <a:avLst/>
          </a:prstGeom>
          <a:solidFill>
            <a:schemeClr val="bg1"/>
          </a:solidFill>
          <a:ln w="38100">
            <a:solidFill>
              <a:schemeClr val="accent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1480"/>
            <a:endParaRPr lang="en-US">
              <a:solidFill>
                <a:prstClr val="white"/>
              </a:solidFill>
            </a:endParaRPr>
          </a:p>
        </p:txBody>
      </p:sp>
      <p:sp>
        <p:nvSpPr>
          <p:cNvPr id="337" name="Rectangle 114">
            <a:extLst>
              <a:ext uri="{FF2B5EF4-FFF2-40B4-BE49-F238E27FC236}">
                <a16:creationId xmlns:a16="http://schemas.microsoft.com/office/drawing/2014/main" id="{C29201C5-24AD-4109-A63C-BA567683F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2823" y="1044167"/>
            <a:ext cx="829985" cy="391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630" b="1">
                <a:solidFill>
                  <a:srgbClr val="0096D6"/>
                </a:solidFill>
                <a:latin typeface="Arial" charset="0"/>
                <a:cs typeface="+mn-cs"/>
              </a:rPr>
              <a:t>Development Complete</a:t>
            </a:r>
          </a:p>
        </p:txBody>
      </p:sp>
      <p:sp>
        <p:nvSpPr>
          <p:cNvPr id="339" name="Oval 338">
            <a:extLst>
              <a:ext uri="{FF2B5EF4-FFF2-40B4-BE49-F238E27FC236}">
                <a16:creationId xmlns:a16="http://schemas.microsoft.com/office/drawing/2014/main" id="{612EE53D-DE46-4EA9-ADA7-B3BE14A275A2}"/>
              </a:ext>
            </a:extLst>
          </p:cNvPr>
          <p:cNvSpPr/>
          <p:nvPr/>
        </p:nvSpPr>
        <p:spPr>
          <a:xfrm>
            <a:off x="5573668" y="4083741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  <a:prstDash val="soli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40" name="Rectangle 114">
            <a:extLst>
              <a:ext uri="{FF2B5EF4-FFF2-40B4-BE49-F238E27FC236}">
                <a16:creationId xmlns:a16="http://schemas.microsoft.com/office/drawing/2014/main" id="{197CE8A7-F683-42B0-8CB7-3569EB2AD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5808" y="4144300"/>
            <a:ext cx="648295" cy="280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srgbClr val="000000"/>
                </a:solidFill>
                <a:latin typeface="Arial" charset="0"/>
                <a:cs typeface="+mn-cs"/>
              </a:rPr>
              <a:t>Dogfooding</a:t>
            </a:r>
          </a:p>
        </p:txBody>
      </p:sp>
      <p:sp>
        <p:nvSpPr>
          <p:cNvPr id="341" name="Oval 340">
            <a:extLst>
              <a:ext uri="{FF2B5EF4-FFF2-40B4-BE49-F238E27FC236}">
                <a16:creationId xmlns:a16="http://schemas.microsoft.com/office/drawing/2014/main" id="{664E5DAF-0B47-48A6-A28E-22D43781C43A}"/>
              </a:ext>
            </a:extLst>
          </p:cNvPr>
          <p:cNvSpPr/>
          <p:nvPr/>
        </p:nvSpPr>
        <p:spPr>
          <a:xfrm>
            <a:off x="5475649" y="1897461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43" name="Oval 342">
            <a:extLst>
              <a:ext uri="{FF2B5EF4-FFF2-40B4-BE49-F238E27FC236}">
                <a16:creationId xmlns:a16="http://schemas.microsoft.com/office/drawing/2014/main" id="{202BCE8A-43E5-4F9F-9E2D-42F4B9E869A6}"/>
              </a:ext>
            </a:extLst>
          </p:cNvPr>
          <p:cNvSpPr/>
          <p:nvPr/>
        </p:nvSpPr>
        <p:spPr>
          <a:xfrm>
            <a:off x="5729197" y="4571870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  <a:prstDash val="soli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44" name="Rectangle 114">
            <a:extLst>
              <a:ext uri="{FF2B5EF4-FFF2-40B4-BE49-F238E27FC236}">
                <a16:creationId xmlns:a16="http://schemas.microsoft.com/office/drawing/2014/main" id="{471B88B5-CD4C-4CAD-A8B9-A45044AE2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3920" y="4367817"/>
            <a:ext cx="330718" cy="166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411480"/>
            <a:r>
              <a:rPr lang="en-US" sz="540">
                <a:solidFill>
                  <a:srgbClr val="000000"/>
                </a:solidFill>
                <a:latin typeface="Arial" charset="0"/>
                <a:cs typeface="+mn-cs"/>
              </a:rPr>
              <a:t>Draft Assets</a:t>
            </a:r>
          </a:p>
        </p:txBody>
      </p:sp>
      <p:sp>
        <p:nvSpPr>
          <p:cNvPr id="345" name="Oval 344">
            <a:extLst>
              <a:ext uri="{FF2B5EF4-FFF2-40B4-BE49-F238E27FC236}">
                <a16:creationId xmlns:a16="http://schemas.microsoft.com/office/drawing/2014/main" id="{18E72FB7-7BE2-48B1-A063-11D993153695}"/>
              </a:ext>
            </a:extLst>
          </p:cNvPr>
          <p:cNvSpPr/>
          <p:nvPr/>
        </p:nvSpPr>
        <p:spPr>
          <a:xfrm>
            <a:off x="5725299" y="3574350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  <a:prstDash val="soli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46" name="Rectangle 114">
            <a:extLst>
              <a:ext uri="{FF2B5EF4-FFF2-40B4-BE49-F238E27FC236}">
                <a16:creationId xmlns:a16="http://schemas.microsoft.com/office/drawing/2014/main" id="{20E58CD1-55C4-4EA8-A0C7-3164D1806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3163" y="3354576"/>
            <a:ext cx="350636" cy="166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411480"/>
            <a:r>
              <a:rPr lang="en-US" sz="540">
                <a:solidFill>
                  <a:srgbClr val="000000"/>
                </a:solidFill>
                <a:latin typeface="Arial" charset="0"/>
                <a:cs typeface="+mn-cs"/>
              </a:rPr>
              <a:t>Draft Assets</a:t>
            </a:r>
          </a:p>
        </p:txBody>
      </p:sp>
      <p:sp>
        <p:nvSpPr>
          <p:cNvPr id="347" name="Rectangle 114">
            <a:extLst>
              <a:ext uri="{FF2B5EF4-FFF2-40B4-BE49-F238E27FC236}">
                <a16:creationId xmlns:a16="http://schemas.microsoft.com/office/drawing/2014/main" id="{1E6E1CCF-B94C-44B9-85D2-2F4BCDA44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3228" y="1717915"/>
            <a:ext cx="352115" cy="166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411480"/>
            <a:r>
              <a:rPr lang="en-US" sz="540">
                <a:solidFill>
                  <a:srgbClr val="000000"/>
                </a:solidFill>
                <a:latin typeface="Arial" charset="0"/>
                <a:cs typeface="+mn-cs"/>
              </a:rPr>
              <a:t>Draft Assets</a:t>
            </a:r>
          </a:p>
        </p:txBody>
      </p:sp>
      <p:sp>
        <p:nvSpPr>
          <p:cNvPr id="348" name="Oval 347">
            <a:extLst>
              <a:ext uri="{FF2B5EF4-FFF2-40B4-BE49-F238E27FC236}">
                <a16:creationId xmlns:a16="http://schemas.microsoft.com/office/drawing/2014/main" id="{8C36BF7F-C2E5-481A-A84F-35827B1A1960}"/>
              </a:ext>
            </a:extLst>
          </p:cNvPr>
          <p:cNvSpPr/>
          <p:nvPr/>
        </p:nvSpPr>
        <p:spPr>
          <a:xfrm>
            <a:off x="5734433" y="1897461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  <a:prstDash val="soli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49" name="Rounded Rectangle 149">
            <a:extLst>
              <a:ext uri="{FF2B5EF4-FFF2-40B4-BE49-F238E27FC236}">
                <a16:creationId xmlns:a16="http://schemas.microsoft.com/office/drawing/2014/main" id="{60BBFB9A-3FFA-4F40-B094-98D2381D71D7}"/>
              </a:ext>
            </a:extLst>
          </p:cNvPr>
          <p:cNvSpPr/>
          <p:nvPr/>
        </p:nvSpPr>
        <p:spPr>
          <a:xfrm flipH="1">
            <a:off x="5915308" y="1864361"/>
            <a:ext cx="146393" cy="2836776"/>
          </a:xfrm>
          <a:prstGeom prst="roundRect">
            <a:avLst>
              <a:gd name="adj" fmla="val 50000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vert270"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000000">
                    <a:lumMod val="95000"/>
                    <a:lumOff val="5000"/>
                  </a:srgbClr>
                </a:solidFill>
              </a:rPr>
              <a:t>Asset Reviews</a:t>
            </a:r>
          </a:p>
        </p:txBody>
      </p:sp>
      <p:sp>
        <p:nvSpPr>
          <p:cNvPr id="350" name="Oval 349">
            <a:extLst>
              <a:ext uri="{FF2B5EF4-FFF2-40B4-BE49-F238E27FC236}">
                <a16:creationId xmlns:a16="http://schemas.microsoft.com/office/drawing/2014/main" id="{EFD4A33F-9291-4B19-BD21-A3CCCD19CFC6}"/>
              </a:ext>
            </a:extLst>
          </p:cNvPr>
          <p:cNvSpPr/>
          <p:nvPr/>
        </p:nvSpPr>
        <p:spPr>
          <a:xfrm>
            <a:off x="5931880" y="1394728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51" name="Rectangle 114">
            <a:extLst>
              <a:ext uri="{FF2B5EF4-FFF2-40B4-BE49-F238E27FC236}">
                <a16:creationId xmlns:a16="http://schemas.microsoft.com/office/drawing/2014/main" id="{41019E25-30D1-4DBA-86A4-E72FF67B3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2927" y="1086137"/>
            <a:ext cx="328118" cy="363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Exit Reviews</a:t>
            </a:r>
          </a:p>
        </p:txBody>
      </p:sp>
      <p:sp>
        <p:nvSpPr>
          <p:cNvPr id="352" name="Rectangle 114">
            <a:extLst>
              <a:ext uri="{FF2B5EF4-FFF2-40B4-BE49-F238E27FC236}">
                <a16:creationId xmlns:a16="http://schemas.microsoft.com/office/drawing/2014/main" id="{6A0F0664-A46A-4829-860B-432D6262A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8687" y="1581802"/>
            <a:ext cx="335793" cy="363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Ramp Plan</a:t>
            </a:r>
          </a:p>
        </p:txBody>
      </p:sp>
      <p:sp>
        <p:nvSpPr>
          <p:cNvPr id="353" name="Oval 352">
            <a:extLst>
              <a:ext uri="{FF2B5EF4-FFF2-40B4-BE49-F238E27FC236}">
                <a16:creationId xmlns:a16="http://schemas.microsoft.com/office/drawing/2014/main" id="{F7FAFD96-7A6A-45D1-9E6E-FDC9058FF82B}"/>
              </a:ext>
            </a:extLst>
          </p:cNvPr>
          <p:cNvSpPr/>
          <p:nvPr/>
        </p:nvSpPr>
        <p:spPr>
          <a:xfrm>
            <a:off x="6189808" y="2433635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55" name="Oval 354">
            <a:extLst>
              <a:ext uri="{FF2B5EF4-FFF2-40B4-BE49-F238E27FC236}">
                <a16:creationId xmlns:a16="http://schemas.microsoft.com/office/drawing/2014/main" id="{F965DEF4-85A8-47B6-B759-1295037CA373}"/>
              </a:ext>
            </a:extLst>
          </p:cNvPr>
          <p:cNvSpPr/>
          <p:nvPr/>
        </p:nvSpPr>
        <p:spPr>
          <a:xfrm>
            <a:off x="6203565" y="4083741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  <a:prstDash val="soli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56" name="Rectangle 114">
            <a:extLst>
              <a:ext uri="{FF2B5EF4-FFF2-40B4-BE49-F238E27FC236}">
                <a16:creationId xmlns:a16="http://schemas.microsoft.com/office/drawing/2014/main" id="{83411DD7-0341-459B-B27E-D76BBC7EB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8657" y="4154448"/>
            <a:ext cx="648295" cy="280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srgbClr val="000000"/>
                </a:solidFill>
                <a:latin typeface="Arial" charset="0"/>
                <a:cs typeface="+mn-cs"/>
              </a:rPr>
              <a:t>Software Signoff</a:t>
            </a:r>
          </a:p>
        </p:txBody>
      </p:sp>
      <p:sp>
        <p:nvSpPr>
          <p:cNvPr id="358" name="Rectangle 114">
            <a:extLst>
              <a:ext uri="{FF2B5EF4-FFF2-40B4-BE49-F238E27FC236}">
                <a16:creationId xmlns:a16="http://schemas.microsoft.com/office/drawing/2014/main" id="{85CA8E2E-856B-4252-ADFB-3C261EF4C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9286" y="2469895"/>
            <a:ext cx="467202" cy="363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Golden Transaction</a:t>
            </a:r>
          </a:p>
        </p:txBody>
      </p:sp>
      <p:sp>
        <p:nvSpPr>
          <p:cNvPr id="359" name="Oval 358">
            <a:extLst>
              <a:ext uri="{FF2B5EF4-FFF2-40B4-BE49-F238E27FC236}">
                <a16:creationId xmlns:a16="http://schemas.microsoft.com/office/drawing/2014/main" id="{2B9C052A-3331-4057-8852-60D605B09FCB}"/>
              </a:ext>
            </a:extLst>
          </p:cNvPr>
          <p:cNvSpPr/>
          <p:nvPr/>
        </p:nvSpPr>
        <p:spPr>
          <a:xfrm>
            <a:off x="6480523" y="1897461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60" name="Rectangle 114">
            <a:extLst>
              <a:ext uri="{FF2B5EF4-FFF2-40B4-BE49-F238E27FC236}">
                <a16:creationId xmlns:a16="http://schemas.microsoft.com/office/drawing/2014/main" id="{241AD471-0DBA-491D-A445-A986E12E5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3830" y="1953031"/>
            <a:ext cx="335793" cy="363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GTM Readiness</a:t>
            </a:r>
          </a:p>
        </p:txBody>
      </p:sp>
      <p:sp>
        <p:nvSpPr>
          <p:cNvPr id="361" name="Oval 360">
            <a:extLst>
              <a:ext uri="{FF2B5EF4-FFF2-40B4-BE49-F238E27FC236}">
                <a16:creationId xmlns:a16="http://schemas.microsoft.com/office/drawing/2014/main" id="{747A5600-C387-4150-B665-964C8291BB68}"/>
              </a:ext>
            </a:extLst>
          </p:cNvPr>
          <p:cNvSpPr/>
          <p:nvPr/>
        </p:nvSpPr>
        <p:spPr>
          <a:xfrm>
            <a:off x="4539763" y="1897461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62" name="Oval 361">
            <a:extLst>
              <a:ext uri="{FF2B5EF4-FFF2-40B4-BE49-F238E27FC236}">
                <a16:creationId xmlns:a16="http://schemas.microsoft.com/office/drawing/2014/main" id="{3D562001-7E30-43DD-BF4A-970384679809}"/>
              </a:ext>
            </a:extLst>
          </p:cNvPr>
          <p:cNvSpPr/>
          <p:nvPr/>
        </p:nvSpPr>
        <p:spPr>
          <a:xfrm>
            <a:off x="6221968" y="2973467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63" name="Rectangle 114">
            <a:extLst>
              <a:ext uri="{FF2B5EF4-FFF2-40B4-BE49-F238E27FC236}">
                <a16:creationId xmlns:a16="http://schemas.microsoft.com/office/drawing/2014/main" id="{448A1A99-4C18-4410-A80E-83F37243C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8255" y="3125973"/>
            <a:ext cx="554525" cy="199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16459" rIns="0" bIns="16459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Delivery Partner Onboarding</a:t>
            </a:r>
          </a:p>
        </p:txBody>
      </p:sp>
      <p:sp>
        <p:nvSpPr>
          <p:cNvPr id="364" name="Rectangle 114">
            <a:extLst>
              <a:ext uri="{FF2B5EF4-FFF2-40B4-BE49-F238E27FC236}">
                <a16:creationId xmlns:a16="http://schemas.microsoft.com/office/drawing/2014/main" id="{F43A411D-16B6-4F2E-940D-A55D31686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5458" y="2762273"/>
            <a:ext cx="389576" cy="199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16459" rIns="0" bIns="16459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Delivery Scaling</a:t>
            </a:r>
          </a:p>
        </p:txBody>
      </p:sp>
      <p:sp>
        <p:nvSpPr>
          <p:cNvPr id="367" name="Oval 366">
            <a:extLst>
              <a:ext uri="{FF2B5EF4-FFF2-40B4-BE49-F238E27FC236}">
                <a16:creationId xmlns:a16="http://schemas.microsoft.com/office/drawing/2014/main" id="{3490E5B3-B4EB-4FA8-BBC6-177627D6C4C6}"/>
              </a:ext>
            </a:extLst>
          </p:cNvPr>
          <p:cNvSpPr/>
          <p:nvPr/>
        </p:nvSpPr>
        <p:spPr>
          <a:xfrm>
            <a:off x="6831893" y="2973467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68" name="Rectangle 114">
            <a:extLst>
              <a:ext uri="{FF2B5EF4-FFF2-40B4-BE49-F238E27FC236}">
                <a16:creationId xmlns:a16="http://schemas.microsoft.com/office/drawing/2014/main" id="{34E0F53F-8C7E-4EDE-9B7C-8006C6DBE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7622" y="3033026"/>
            <a:ext cx="498041" cy="446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Publish Playbook &amp; SOPs </a:t>
            </a:r>
          </a:p>
        </p:txBody>
      </p:sp>
      <p:sp>
        <p:nvSpPr>
          <p:cNvPr id="369" name="Rectangle 114">
            <a:extLst>
              <a:ext uri="{FF2B5EF4-FFF2-40B4-BE49-F238E27FC236}">
                <a16:creationId xmlns:a16="http://schemas.microsoft.com/office/drawing/2014/main" id="{CEA05B2C-A9CD-4431-97AB-C0DFE5F37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4814" y="3701165"/>
            <a:ext cx="350636" cy="166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411480"/>
            <a:r>
              <a:rPr lang="en-US" sz="540">
                <a:solidFill>
                  <a:srgbClr val="000000"/>
                </a:solidFill>
                <a:latin typeface="Arial" charset="0"/>
                <a:cs typeface="+mn-cs"/>
              </a:rPr>
              <a:t>Publish Assets</a:t>
            </a:r>
          </a:p>
        </p:txBody>
      </p:sp>
      <p:sp>
        <p:nvSpPr>
          <p:cNvPr id="370" name="Oval 369">
            <a:extLst>
              <a:ext uri="{FF2B5EF4-FFF2-40B4-BE49-F238E27FC236}">
                <a16:creationId xmlns:a16="http://schemas.microsoft.com/office/drawing/2014/main" id="{BE128085-7DDD-4157-8FAA-4E54B1920933}"/>
              </a:ext>
            </a:extLst>
          </p:cNvPr>
          <p:cNvSpPr/>
          <p:nvPr/>
        </p:nvSpPr>
        <p:spPr>
          <a:xfrm>
            <a:off x="6837010" y="3574350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71" name="Oval 370">
            <a:extLst>
              <a:ext uri="{FF2B5EF4-FFF2-40B4-BE49-F238E27FC236}">
                <a16:creationId xmlns:a16="http://schemas.microsoft.com/office/drawing/2014/main" id="{7D0AA9BC-D623-4F24-B9C1-6F3A90D35694}"/>
              </a:ext>
            </a:extLst>
          </p:cNvPr>
          <p:cNvSpPr/>
          <p:nvPr/>
        </p:nvSpPr>
        <p:spPr>
          <a:xfrm>
            <a:off x="6849034" y="4571870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72" name="Rectangle 114">
            <a:extLst>
              <a:ext uri="{FF2B5EF4-FFF2-40B4-BE49-F238E27FC236}">
                <a16:creationId xmlns:a16="http://schemas.microsoft.com/office/drawing/2014/main" id="{96E2C5B7-DA19-4882-BB63-672ABEDAD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0802" y="4356727"/>
            <a:ext cx="350636" cy="166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411480"/>
            <a:r>
              <a:rPr lang="en-US" sz="540">
                <a:solidFill>
                  <a:srgbClr val="000000"/>
                </a:solidFill>
                <a:latin typeface="Arial" charset="0"/>
                <a:cs typeface="+mn-cs"/>
              </a:rPr>
              <a:t>Publish Assets</a:t>
            </a:r>
          </a:p>
        </p:txBody>
      </p:sp>
      <p:sp>
        <p:nvSpPr>
          <p:cNvPr id="373" name="Oval 372">
            <a:extLst>
              <a:ext uri="{FF2B5EF4-FFF2-40B4-BE49-F238E27FC236}">
                <a16:creationId xmlns:a16="http://schemas.microsoft.com/office/drawing/2014/main" id="{63ECEDA0-F8F7-4028-A825-38797750CB09}"/>
              </a:ext>
            </a:extLst>
          </p:cNvPr>
          <p:cNvSpPr/>
          <p:nvPr/>
        </p:nvSpPr>
        <p:spPr>
          <a:xfrm>
            <a:off x="6840198" y="1897461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74" name="Rectangle 114">
            <a:extLst>
              <a:ext uri="{FF2B5EF4-FFF2-40B4-BE49-F238E27FC236}">
                <a16:creationId xmlns:a16="http://schemas.microsoft.com/office/drawing/2014/main" id="{1D6A361B-D36B-4614-ACD7-3213971BB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2780" y="1692327"/>
            <a:ext cx="350636" cy="166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411480"/>
            <a:r>
              <a:rPr lang="en-US" sz="540">
                <a:solidFill>
                  <a:srgbClr val="000000"/>
                </a:solidFill>
                <a:latin typeface="Arial" charset="0"/>
                <a:cs typeface="+mn-cs"/>
              </a:rPr>
              <a:t>Publish Assets</a:t>
            </a:r>
          </a:p>
        </p:txBody>
      </p:sp>
      <p:sp>
        <p:nvSpPr>
          <p:cNvPr id="375" name="Oval 374">
            <a:extLst>
              <a:ext uri="{FF2B5EF4-FFF2-40B4-BE49-F238E27FC236}">
                <a16:creationId xmlns:a16="http://schemas.microsoft.com/office/drawing/2014/main" id="{0358E788-E596-454A-9541-C4EE40EB729D}"/>
              </a:ext>
            </a:extLst>
          </p:cNvPr>
          <p:cNvSpPr/>
          <p:nvPr/>
        </p:nvSpPr>
        <p:spPr>
          <a:xfrm>
            <a:off x="6845897" y="4083741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  <a:prstDash val="soli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76" name="Rectangle 114">
            <a:extLst>
              <a:ext uri="{FF2B5EF4-FFF2-40B4-BE49-F238E27FC236}">
                <a16:creationId xmlns:a16="http://schemas.microsoft.com/office/drawing/2014/main" id="{CD99CE35-A281-4602-A04E-90AA05BAF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957" y="3804472"/>
            <a:ext cx="423169" cy="363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srgbClr val="000000"/>
                </a:solidFill>
                <a:latin typeface="Arial" charset="0"/>
                <a:cs typeface="+mn-cs"/>
              </a:rPr>
              <a:t>Demo Delivery</a:t>
            </a:r>
          </a:p>
        </p:txBody>
      </p:sp>
      <p:sp>
        <p:nvSpPr>
          <p:cNvPr id="377" name="Rounded Rectangle 149">
            <a:extLst>
              <a:ext uri="{FF2B5EF4-FFF2-40B4-BE49-F238E27FC236}">
                <a16:creationId xmlns:a16="http://schemas.microsoft.com/office/drawing/2014/main" id="{AA47F759-FA2B-490D-A90D-6E142BF83F09}"/>
              </a:ext>
            </a:extLst>
          </p:cNvPr>
          <p:cNvSpPr/>
          <p:nvPr/>
        </p:nvSpPr>
        <p:spPr>
          <a:xfrm flipH="1">
            <a:off x="7050594" y="1866711"/>
            <a:ext cx="146393" cy="2836776"/>
          </a:xfrm>
          <a:prstGeom prst="roundRect">
            <a:avLst>
              <a:gd name="adj" fmla="val 50000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vert270"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>
                <a:solidFill>
                  <a:srgbClr val="000000">
                    <a:lumMod val="95000"/>
                    <a:lumOff val="5000"/>
                  </a:srgbClr>
                </a:solidFill>
              </a:rPr>
              <a:t>Training and Enablement</a:t>
            </a:r>
          </a:p>
        </p:txBody>
      </p:sp>
      <p:sp>
        <p:nvSpPr>
          <p:cNvPr id="378" name="Diamond 377">
            <a:extLst>
              <a:ext uri="{FF2B5EF4-FFF2-40B4-BE49-F238E27FC236}">
                <a16:creationId xmlns:a16="http://schemas.microsoft.com/office/drawing/2014/main" id="{BCFC8EEC-4C97-4E08-B0D1-4A67840011BF}"/>
              </a:ext>
            </a:extLst>
          </p:cNvPr>
          <p:cNvSpPr/>
          <p:nvPr/>
        </p:nvSpPr>
        <p:spPr>
          <a:xfrm>
            <a:off x="7044215" y="1355714"/>
            <a:ext cx="161234" cy="179193"/>
          </a:xfrm>
          <a:prstGeom prst="diamond">
            <a:avLst/>
          </a:prstGeom>
          <a:solidFill>
            <a:schemeClr val="bg1"/>
          </a:solidFill>
          <a:ln w="38100">
            <a:solidFill>
              <a:schemeClr val="accent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1480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379" name="Elbow Connector 215">
            <a:extLst>
              <a:ext uri="{FF2B5EF4-FFF2-40B4-BE49-F238E27FC236}">
                <a16:creationId xmlns:a16="http://schemas.microsoft.com/office/drawing/2014/main" id="{1D284580-2688-469A-91B0-E5F3B6D6FAC0}"/>
              </a:ext>
            </a:extLst>
          </p:cNvPr>
          <p:cNvCxnSpPr>
            <a:cxnSpLocks/>
            <a:stCxn id="378" idx="2"/>
            <a:endCxn id="377" idx="0"/>
          </p:cNvCxnSpPr>
          <p:nvPr/>
        </p:nvCxnSpPr>
        <p:spPr>
          <a:xfrm rot="5400000">
            <a:off x="6958409" y="1700288"/>
            <a:ext cx="331804" cy="1042"/>
          </a:xfrm>
          <a:prstGeom prst="bentConnector3">
            <a:avLst>
              <a:gd name="adj1" fmla="val 50000"/>
            </a:avLst>
          </a:prstGeom>
          <a:ln w="12700" cmpd="sng">
            <a:solidFill>
              <a:schemeClr val="tx1"/>
            </a:solidFill>
            <a:prstDash val="dash"/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0" name="Rectangle 114">
            <a:extLst>
              <a:ext uri="{FF2B5EF4-FFF2-40B4-BE49-F238E27FC236}">
                <a16:creationId xmlns:a16="http://schemas.microsoft.com/office/drawing/2014/main" id="{84FF8413-C9DD-4747-9C38-931D7CEC6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0594" y="1094325"/>
            <a:ext cx="703836" cy="391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630" b="1">
                <a:solidFill>
                  <a:srgbClr val="0096D6"/>
                </a:solidFill>
                <a:latin typeface="Arial" charset="0"/>
                <a:cs typeface="+mn-cs"/>
              </a:rPr>
              <a:t>Value Chain Enabled</a:t>
            </a:r>
          </a:p>
        </p:txBody>
      </p:sp>
      <p:sp>
        <p:nvSpPr>
          <p:cNvPr id="381" name="Oval 380">
            <a:extLst>
              <a:ext uri="{FF2B5EF4-FFF2-40B4-BE49-F238E27FC236}">
                <a16:creationId xmlns:a16="http://schemas.microsoft.com/office/drawing/2014/main" id="{7985694E-723C-41CD-A7C8-BFD7699B5BAC}"/>
              </a:ext>
            </a:extLst>
          </p:cNvPr>
          <p:cNvSpPr/>
          <p:nvPr/>
        </p:nvSpPr>
        <p:spPr>
          <a:xfrm>
            <a:off x="2513542" y="1897461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82" name="Oval 381">
            <a:extLst>
              <a:ext uri="{FF2B5EF4-FFF2-40B4-BE49-F238E27FC236}">
                <a16:creationId xmlns:a16="http://schemas.microsoft.com/office/drawing/2014/main" id="{2A959B4B-3474-4630-A608-CB98BDFD47DA}"/>
              </a:ext>
            </a:extLst>
          </p:cNvPr>
          <p:cNvSpPr/>
          <p:nvPr/>
        </p:nvSpPr>
        <p:spPr>
          <a:xfrm>
            <a:off x="6555794" y="2973467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86" name="Rectangle 114">
            <a:extLst>
              <a:ext uri="{FF2B5EF4-FFF2-40B4-BE49-F238E27FC236}">
                <a16:creationId xmlns:a16="http://schemas.microsoft.com/office/drawing/2014/main" id="{1B7BB26D-AC06-46B6-8F84-C69B15C83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7625" y="1938816"/>
            <a:ext cx="402879" cy="363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Validate KPIs</a:t>
            </a:r>
          </a:p>
        </p:txBody>
      </p:sp>
      <p:sp>
        <p:nvSpPr>
          <p:cNvPr id="388" name="Oval 387">
            <a:extLst>
              <a:ext uri="{FF2B5EF4-FFF2-40B4-BE49-F238E27FC236}">
                <a16:creationId xmlns:a16="http://schemas.microsoft.com/office/drawing/2014/main" id="{DBC95BC3-9317-4910-B58E-E102E7B60449}"/>
              </a:ext>
            </a:extLst>
          </p:cNvPr>
          <p:cNvSpPr/>
          <p:nvPr/>
        </p:nvSpPr>
        <p:spPr>
          <a:xfrm>
            <a:off x="7321098" y="4571870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89" name="Rectangle 114">
            <a:extLst>
              <a:ext uri="{FF2B5EF4-FFF2-40B4-BE49-F238E27FC236}">
                <a16:creationId xmlns:a16="http://schemas.microsoft.com/office/drawing/2014/main" id="{1A27A47B-A86B-4495-A685-480600951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6835" y="4712403"/>
            <a:ext cx="572397" cy="170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411480"/>
            <a:r>
              <a:rPr lang="en-US" sz="540">
                <a:solidFill>
                  <a:srgbClr val="000000"/>
                </a:solidFill>
                <a:latin typeface="Arial" charset="0"/>
                <a:cs typeface="+mn-cs"/>
              </a:rPr>
              <a:t>Compliance Verified</a:t>
            </a:r>
          </a:p>
        </p:txBody>
      </p:sp>
      <p:sp>
        <p:nvSpPr>
          <p:cNvPr id="390" name="Oval 389">
            <a:extLst>
              <a:ext uri="{FF2B5EF4-FFF2-40B4-BE49-F238E27FC236}">
                <a16:creationId xmlns:a16="http://schemas.microsoft.com/office/drawing/2014/main" id="{B098AB9B-1DC0-47D1-80AD-04E78209A4A6}"/>
              </a:ext>
            </a:extLst>
          </p:cNvPr>
          <p:cNvSpPr/>
          <p:nvPr/>
        </p:nvSpPr>
        <p:spPr>
          <a:xfrm>
            <a:off x="7308635" y="1394728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91" name="Rectangle 114">
            <a:extLst>
              <a:ext uri="{FF2B5EF4-FFF2-40B4-BE49-F238E27FC236}">
                <a16:creationId xmlns:a16="http://schemas.microsoft.com/office/drawing/2014/main" id="{F2B054DD-D253-4F73-8B05-B4DD7E656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228" y="1083810"/>
            <a:ext cx="335161" cy="363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Exit Reviews</a:t>
            </a:r>
          </a:p>
        </p:txBody>
      </p:sp>
      <p:sp>
        <p:nvSpPr>
          <p:cNvPr id="392" name="Diamond 391">
            <a:extLst>
              <a:ext uri="{FF2B5EF4-FFF2-40B4-BE49-F238E27FC236}">
                <a16:creationId xmlns:a16="http://schemas.microsoft.com/office/drawing/2014/main" id="{86A2D2BA-498B-4771-875A-4F646C791836}"/>
              </a:ext>
            </a:extLst>
          </p:cNvPr>
          <p:cNvSpPr/>
          <p:nvPr/>
        </p:nvSpPr>
        <p:spPr>
          <a:xfrm>
            <a:off x="7449076" y="1355714"/>
            <a:ext cx="161234" cy="179193"/>
          </a:xfrm>
          <a:prstGeom prst="diamond">
            <a:avLst/>
          </a:prstGeom>
          <a:solidFill>
            <a:schemeClr val="bg1"/>
          </a:solidFill>
          <a:ln w="38100">
            <a:solidFill>
              <a:schemeClr val="accent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1480"/>
            <a:endParaRPr lang="en-US">
              <a:solidFill>
                <a:prstClr val="white"/>
              </a:solidFill>
            </a:endParaRPr>
          </a:p>
        </p:txBody>
      </p:sp>
      <p:sp>
        <p:nvSpPr>
          <p:cNvPr id="393" name="Rectangle 114">
            <a:extLst>
              <a:ext uri="{FF2B5EF4-FFF2-40B4-BE49-F238E27FC236}">
                <a16:creationId xmlns:a16="http://schemas.microsoft.com/office/drawing/2014/main" id="{4189EB09-11F2-42AA-8ED0-F4C279015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8029" y="1089954"/>
            <a:ext cx="623216" cy="391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630" b="1">
                <a:solidFill>
                  <a:srgbClr val="0096D6"/>
                </a:solidFill>
                <a:latin typeface="Arial" charset="0"/>
                <a:cs typeface="+mn-cs"/>
              </a:rPr>
              <a:t>Market Launch/FSD</a:t>
            </a:r>
          </a:p>
        </p:txBody>
      </p:sp>
      <p:sp>
        <p:nvSpPr>
          <p:cNvPr id="395" name="Rectangle 114">
            <a:extLst>
              <a:ext uri="{FF2B5EF4-FFF2-40B4-BE49-F238E27FC236}">
                <a16:creationId xmlns:a16="http://schemas.microsoft.com/office/drawing/2014/main" id="{32485567-5E7B-4C79-9CE5-C1ECE6109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1411" y="4448266"/>
            <a:ext cx="395161" cy="166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411480"/>
            <a:r>
              <a:rPr lang="en-US" sz="540">
                <a:solidFill>
                  <a:srgbClr val="000000"/>
                </a:solidFill>
                <a:latin typeface="Arial" charset="0"/>
                <a:cs typeface="+mn-cs"/>
              </a:rPr>
              <a:t>Project Closure</a:t>
            </a:r>
          </a:p>
        </p:txBody>
      </p:sp>
      <p:sp>
        <p:nvSpPr>
          <p:cNvPr id="398" name="Oval 397">
            <a:extLst>
              <a:ext uri="{FF2B5EF4-FFF2-40B4-BE49-F238E27FC236}">
                <a16:creationId xmlns:a16="http://schemas.microsoft.com/office/drawing/2014/main" id="{F031497A-098A-408E-8990-E01D777E73AD}"/>
              </a:ext>
            </a:extLst>
          </p:cNvPr>
          <p:cNvSpPr/>
          <p:nvPr/>
        </p:nvSpPr>
        <p:spPr>
          <a:xfrm>
            <a:off x="7583007" y="3574350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99" name="Rectangle 114">
            <a:extLst>
              <a:ext uri="{FF2B5EF4-FFF2-40B4-BE49-F238E27FC236}">
                <a16:creationId xmlns:a16="http://schemas.microsoft.com/office/drawing/2014/main" id="{5CA1EDD2-5440-4983-95E8-A0AB035E7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1410" y="3711426"/>
            <a:ext cx="395161" cy="166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411480"/>
            <a:r>
              <a:rPr lang="en-US" sz="540">
                <a:solidFill>
                  <a:srgbClr val="000000"/>
                </a:solidFill>
                <a:latin typeface="Arial" charset="0"/>
                <a:cs typeface="+mn-cs"/>
              </a:rPr>
              <a:t>Launch Comms</a:t>
            </a:r>
          </a:p>
        </p:txBody>
      </p:sp>
      <p:sp>
        <p:nvSpPr>
          <p:cNvPr id="400" name="Oval 399">
            <a:extLst>
              <a:ext uri="{FF2B5EF4-FFF2-40B4-BE49-F238E27FC236}">
                <a16:creationId xmlns:a16="http://schemas.microsoft.com/office/drawing/2014/main" id="{4D1A99AE-98E7-4556-A56F-1252D35DFECE}"/>
              </a:ext>
            </a:extLst>
          </p:cNvPr>
          <p:cNvSpPr/>
          <p:nvPr/>
        </p:nvSpPr>
        <p:spPr>
          <a:xfrm>
            <a:off x="7649295" y="1897461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01" name="Rectangle 114">
            <a:extLst>
              <a:ext uri="{FF2B5EF4-FFF2-40B4-BE49-F238E27FC236}">
                <a16:creationId xmlns:a16="http://schemas.microsoft.com/office/drawing/2014/main" id="{F65F50A4-471E-40C6-A047-904595D51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9485" y="1582952"/>
            <a:ext cx="402879" cy="363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Service Incubation</a:t>
            </a:r>
          </a:p>
        </p:txBody>
      </p:sp>
      <p:sp>
        <p:nvSpPr>
          <p:cNvPr id="403" name="Oval 402">
            <a:extLst>
              <a:ext uri="{FF2B5EF4-FFF2-40B4-BE49-F238E27FC236}">
                <a16:creationId xmlns:a16="http://schemas.microsoft.com/office/drawing/2014/main" id="{09FC42DB-666C-43FD-950C-79028F87950E}"/>
              </a:ext>
            </a:extLst>
          </p:cNvPr>
          <p:cNvSpPr/>
          <p:nvPr/>
        </p:nvSpPr>
        <p:spPr>
          <a:xfrm>
            <a:off x="7954879" y="3574350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05" name="Rectangle 114">
            <a:extLst>
              <a:ext uri="{FF2B5EF4-FFF2-40B4-BE49-F238E27FC236}">
                <a16:creationId xmlns:a16="http://schemas.microsoft.com/office/drawing/2014/main" id="{64F625A8-A56F-430D-8CCB-B2D8ACF85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3561" y="3373725"/>
            <a:ext cx="395161" cy="166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411480"/>
            <a:r>
              <a:rPr lang="en-US" sz="540">
                <a:solidFill>
                  <a:srgbClr val="000000"/>
                </a:solidFill>
                <a:latin typeface="Arial" charset="0"/>
                <a:cs typeface="+mn-cs"/>
              </a:rPr>
              <a:t>Publish WBTs</a:t>
            </a:r>
          </a:p>
        </p:txBody>
      </p:sp>
      <p:sp>
        <p:nvSpPr>
          <p:cNvPr id="406" name="Oval 405">
            <a:extLst>
              <a:ext uri="{FF2B5EF4-FFF2-40B4-BE49-F238E27FC236}">
                <a16:creationId xmlns:a16="http://schemas.microsoft.com/office/drawing/2014/main" id="{2AD1692F-A39E-4582-8C3A-8914C7453E69}"/>
              </a:ext>
            </a:extLst>
          </p:cNvPr>
          <p:cNvSpPr/>
          <p:nvPr/>
        </p:nvSpPr>
        <p:spPr>
          <a:xfrm>
            <a:off x="8007102" y="1897461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07" name="Rectangle 114">
            <a:extLst>
              <a:ext uri="{FF2B5EF4-FFF2-40B4-BE49-F238E27FC236}">
                <a16:creationId xmlns:a16="http://schemas.microsoft.com/office/drawing/2014/main" id="{73FA7ACA-D8B8-4676-8BBC-EFE53C500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7816" y="1941862"/>
            <a:ext cx="402879" cy="446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Review Service Performance</a:t>
            </a:r>
          </a:p>
        </p:txBody>
      </p:sp>
      <p:sp>
        <p:nvSpPr>
          <p:cNvPr id="408" name="Oval 407">
            <a:extLst>
              <a:ext uri="{FF2B5EF4-FFF2-40B4-BE49-F238E27FC236}">
                <a16:creationId xmlns:a16="http://schemas.microsoft.com/office/drawing/2014/main" id="{AF943302-1673-480D-A015-159548DC7A5C}"/>
              </a:ext>
            </a:extLst>
          </p:cNvPr>
          <p:cNvSpPr/>
          <p:nvPr/>
        </p:nvSpPr>
        <p:spPr>
          <a:xfrm>
            <a:off x="8312449" y="1897461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09" name="Rectangle 114">
            <a:extLst>
              <a:ext uri="{FF2B5EF4-FFF2-40B4-BE49-F238E27FC236}">
                <a16:creationId xmlns:a16="http://schemas.microsoft.com/office/drawing/2014/main" id="{88F0036E-0CCB-4167-AA83-9009A5CDB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89" y="1512161"/>
            <a:ext cx="402879" cy="446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Remediate Performance Gaps</a:t>
            </a:r>
          </a:p>
        </p:txBody>
      </p:sp>
      <p:sp>
        <p:nvSpPr>
          <p:cNvPr id="410" name="Diamond 409">
            <a:extLst>
              <a:ext uri="{FF2B5EF4-FFF2-40B4-BE49-F238E27FC236}">
                <a16:creationId xmlns:a16="http://schemas.microsoft.com/office/drawing/2014/main" id="{908C9CE9-C16E-413D-B353-1992A0E52DDC}"/>
              </a:ext>
            </a:extLst>
          </p:cNvPr>
          <p:cNvSpPr/>
          <p:nvPr/>
        </p:nvSpPr>
        <p:spPr>
          <a:xfrm>
            <a:off x="8464262" y="1355714"/>
            <a:ext cx="161234" cy="179193"/>
          </a:xfrm>
          <a:prstGeom prst="diamond">
            <a:avLst/>
          </a:prstGeom>
          <a:solidFill>
            <a:schemeClr val="bg1"/>
          </a:solidFill>
          <a:ln w="38100">
            <a:solidFill>
              <a:schemeClr val="accent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11480"/>
            <a:endParaRPr lang="en-US">
              <a:solidFill>
                <a:prstClr val="white"/>
              </a:solidFill>
            </a:endParaRPr>
          </a:p>
        </p:txBody>
      </p:sp>
      <p:sp>
        <p:nvSpPr>
          <p:cNvPr id="411" name="Rectangle 114">
            <a:extLst>
              <a:ext uri="{FF2B5EF4-FFF2-40B4-BE49-F238E27FC236}">
                <a16:creationId xmlns:a16="http://schemas.microsoft.com/office/drawing/2014/main" id="{2E37A592-EA51-40D7-9857-9A7ACF431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5857" y="1123369"/>
            <a:ext cx="623216" cy="294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630" b="1">
                <a:solidFill>
                  <a:srgbClr val="0096D6"/>
                </a:solidFill>
                <a:latin typeface="Arial" charset="0"/>
                <a:cs typeface="+mn-cs"/>
              </a:rPr>
              <a:t>Handover</a:t>
            </a:r>
          </a:p>
        </p:txBody>
      </p:sp>
      <p:sp>
        <p:nvSpPr>
          <p:cNvPr id="413" name="Oval 412">
            <a:extLst>
              <a:ext uri="{FF2B5EF4-FFF2-40B4-BE49-F238E27FC236}">
                <a16:creationId xmlns:a16="http://schemas.microsoft.com/office/drawing/2014/main" id="{2710A937-01A4-4687-B19A-7FC362BDABFE}"/>
              </a:ext>
            </a:extLst>
          </p:cNvPr>
          <p:cNvSpPr/>
          <p:nvPr/>
        </p:nvSpPr>
        <p:spPr>
          <a:xfrm>
            <a:off x="7480316" y="4571870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14" name="Rectangle 114">
            <a:extLst>
              <a:ext uri="{FF2B5EF4-FFF2-40B4-BE49-F238E27FC236}">
                <a16:creationId xmlns:a16="http://schemas.microsoft.com/office/drawing/2014/main" id="{9BDA8DB1-6B05-4ABF-9B75-1A2BE9081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988" y="3024624"/>
            <a:ext cx="519794" cy="363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Delivery Planning</a:t>
            </a:r>
          </a:p>
        </p:txBody>
      </p:sp>
      <p:sp>
        <p:nvSpPr>
          <p:cNvPr id="416" name="Oval 415">
            <a:extLst>
              <a:ext uri="{FF2B5EF4-FFF2-40B4-BE49-F238E27FC236}">
                <a16:creationId xmlns:a16="http://schemas.microsoft.com/office/drawing/2014/main" id="{607950B7-796E-4984-A1C8-C1FE63F4D9E0}"/>
              </a:ext>
            </a:extLst>
          </p:cNvPr>
          <p:cNvSpPr/>
          <p:nvPr/>
        </p:nvSpPr>
        <p:spPr>
          <a:xfrm>
            <a:off x="3861302" y="2973467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17" name="Oval 416">
            <a:extLst>
              <a:ext uri="{FF2B5EF4-FFF2-40B4-BE49-F238E27FC236}">
                <a16:creationId xmlns:a16="http://schemas.microsoft.com/office/drawing/2014/main" id="{ED01B573-46B7-4A46-956A-0D9E94CEF249}"/>
              </a:ext>
            </a:extLst>
          </p:cNvPr>
          <p:cNvSpPr/>
          <p:nvPr/>
        </p:nvSpPr>
        <p:spPr>
          <a:xfrm>
            <a:off x="6654549" y="4571870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18" name="Rectangle 114">
            <a:extLst>
              <a:ext uri="{FF2B5EF4-FFF2-40B4-BE49-F238E27FC236}">
                <a16:creationId xmlns:a16="http://schemas.microsoft.com/office/drawing/2014/main" id="{5AD27EAB-9680-4E9A-BB9D-B49D94C65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5992" y="4730619"/>
            <a:ext cx="350636" cy="249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defTabSz="411480"/>
            <a:r>
              <a:rPr lang="en-US" sz="540">
                <a:solidFill>
                  <a:srgbClr val="000000"/>
                </a:solidFill>
                <a:latin typeface="Arial" charset="0"/>
                <a:cs typeface="+mn-cs"/>
              </a:rPr>
              <a:t>Customer Zero Testing</a:t>
            </a:r>
          </a:p>
        </p:txBody>
      </p:sp>
      <p:sp>
        <p:nvSpPr>
          <p:cNvPr id="419" name="Oval 418">
            <a:extLst>
              <a:ext uri="{FF2B5EF4-FFF2-40B4-BE49-F238E27FC236}">
                <a16:creationId xmlns:a16="http://schemas.microsoft.com/office/drawing/2014/main" id="{4F69F907-1F85-4393-8828-636CBB9B89B4}"/>
              </a:ext>
            </a:extLst>
          </p:cNvPr>
          <p:cNvSpPr/>
          <p:nvPr/>
        </p:nvSpPr>
        <p:spPr>
          <a:xfrm>
            <a:off x="6794212" y="2433635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20" name="Rectangle 114">
            <a:extLst>
              <a:ext uri="{FF2B5EF4-FFF2-40B4-BE49-F238E27FC236}">
                <a16:creationId xmlns:a16="http://schemas.microsoft.com/office/drawing/2014/main" id="{0AEDA026-7863-4443-B9B6-3B3AE9CB7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6597" y="2213012"/>
            <a:ext cx="467202" cy="280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97743" rIns="0" bIns="97743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Q2C RACI</a:t>
            </a:r>
          </a:p>
        </p:txBody>
      </p:sp>
      <p:sp>
        <p:nvSpPr>
          <p:cNvPr id="421" name="Oval 420">
            <a:extLst>
              <a:ext uri="{FF2B5EF4-FFF2-40B4-BE49-F238E27FC236}">
                <a16:creationId xmlns:a16="http://schemas.microsoft.com/office/drawing/2014/main" id="{69D46378-21A4-459E-81FE-DED8D3303BA6}"/>
              </a:ext>
            </a:extLst>
          </p:cNvPr>
          <p:cNvSpPr/>
          <p:nvPr/>
        </p:nvSpPr>
        <p:spPr>
          <a:xfrm>
            <a:off x="1166215" y="1388738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23" name="Rectangle 114">
            <a:extLst>
              <a:ext uri="{FF2B5EF4-FFF2-40B4-BE49-F238E27FC236}">
                <a16:creationId xmlns:a16="http://schemas.microsoft.com/office/drawing/2014/main" id="{7F5DF83A-04B8-468A-B1D8-3F940AD32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688" y="1170821"/>
            <a:ext cx="559223" cy="1994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16459" rIns="0" bIns="16459">
            <a:spAutoFit/>
          </a:bodyPr>
          <a:lstStyle/>
          <a:p>
            <a:pPr algn="ctr" defTabSz="411480"/>
            <a:r>
              <a:rPr lang="en-US" sz="540">
                <a:solidFill>
                  <a:prstClr val="black"/>
                </a:solidFill>
                <a:latin typeface="Arial" charset="0"/>
                <a:cs typeface="+mn-cs"/>
              </a:rPr>
              <a:t>Customer/Partner Insights</a:t>
            </a:r>
          </a:p>
        </p:txBody>
      </p:sp>
      <p:sp>
        <p:nvSpPr>
          <p:cNvPr id="426" name="Oval 425">
            <a:extLst>
              <a:ext uri="{FF2B5EF4-FFF2-40B4-BE49-F238E27FC236}">
                <a16:creationId xmlns:a16="http://schemas.microsoft.com/office/drawing/2014/main" id="{B6870E89-B98E-4B0A-BBF1-20779C54FB3E}"/>
              </a:ext>
            </a:extLst>
          </p:cNvPr>
          <p:cNvSpPr/>
          <p:nvPr/>
        </p:nvSpPr>
        <p:spPr>
          <a:xfrm>
            <a:off x="7311514" y="1899826"/>
            <a:ext cx="98755" cy="10116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defTabSz="41148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7260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2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repeatCount="2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repeatCount="2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3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6" presetClass="emph" presetSubtype="0" repeatCount="2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3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6" presetClass="emph" presetSubtype="0" repeatCount="2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39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26" presetClass="emph" presetSubtype="0" repeatCount="2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4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" grpId="0" animBg="1"/>
      <p:bldP spid="210" grpId="0" animBg="1"/>
      <p:bldP spid="250" grpId="0" animBg="1"/>
      <p:bldP spid="336" grpId="0" animBg="1"/>
      <p:bldP spid="378" grpId="0" animBg="1"/>
      <p:bldP spid="392" grpId="0" animBg="1"/>
      <p:bldP spid="4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3DE3FFA-42E8-4BD9-983D-A2D9D39FEC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775542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3DE3FFA-42E8-4BD9-983D-A2D9D39FEC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29CE6AF-6BD7-4A05-AD62-B04989E1691E}"/>
              </a:ext>
            </a:extLst>
          </p:cNvPr>
          <p:cNvSpPr txBox="1"/>
          <p:nvPr/>
        </p:nvSpPr>
        <p:spPr>
          <a:xfrm>
            <a:off x="6122027" y="4161701"/>
            <a:ext cx="3021973" cy="891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387192">
              <a:spcAft>
                <a:spcPts val="360"/>
              </a:spcAft>
              <a:buSzPct val="100000"/>
            </a:pPr>
            <a:r>
              <a:rPr lang="en-US" b="1">
                <a:solidFill>
                  <a:srgbClr val="0096D6"/>
                </a:solidFill>
                <a:latin typeface="HP Simplified Light" panose="020B0404020204020204" pitchFamily="34" charset="0"/>
                <a:cs typeface="HP Simplified" pitchFamily="34" charset="0"/>
              </a:rPr>
              <a:t>Quick Glance:  PS Services E2E Product Management Process</a:t>
            </a:r>
          </a:p>
          <a:p>
            <a:pPr algn="r" defTabSz="387192">
              <a:spcAft>
                <a:spcPts val="360"/>
              </a:spcAft>
              <a:buSzPct val="100000"/>
            </a:pPr>
            <a:r>
              <a:rPr lang="en-US" sz="1260" b="1">
                <a:solidFill>
                  <a:srgbClr val="0096D6"/>
                </a:solidFill>
                <a:latin typeface="HP Simplified Light" panose="020B0404020204020204" pitchFamily="34" charset="0"/>
                <a:cs typeface="HP Simplified" pitchFamily="34" charset="0"/>
              </a:rPr>
              <a:t>R2.2 Guidebook (1 of 2)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B2BD0FE-43F6-4BCE-A43F-A363325D98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2706148"/>
              </p:ext>
            </p:extLst>
          </p:nvPr>
        </p:nvGraphicFramePr>
        <p:xfrm>
          <a:off x="760095" y="-45721"/>
          <a:ext cx="7538085" cy="12744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32AF4EEB-2116-4FD4-8B53-9FA21DB2C279}"/>
              </a:ext>
            </a:extLst>
          </p:cNvPr>
          <p:cNvSpPr/>
          <p:nvPr/>
        </p:nvSpPr>
        <p:spPr>
          <a:xfrm>
            <a:off x="2183129" y="451483"/>
            <a:ext cx="405765" cy="28003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POI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A673E7-EA3E-4097-B9BB-F64E1BC50AD8}"/>
              </a:ext>
            </a:extLst>
          </p:cNvPr>
          <p:cNvSpPr/>
          <p:nvPr/>
        </p:nvSpPr>
        <p:spPr>
          <a:xfrm>
            <a:off x="3606163" y="451483"/>
            <a:ext cx="405765" cy="28003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POR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A5375A-4CA8-4151-AA02-B1766C07E21C}"/>
              </a:ext>
            </a:extLst>
          </p:cNvPr>
          <p:cNvSpPr/>
          <p:nvPr/>
        </p:nvSpPr>
        <p:spPr>
          <a:xfrm>
            <a:off x="5029197" y="451483"/>
            <a:ext cx="546103" cy="28003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COMMIT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F0F834-5668-4A8E-B920-B23309563EAF}"/>
              </a:ext>
            </a:extLst>
          </p:cNvPr>
          <p:cNvSpPr/>
          <p:nvPr/>
        </p:nvSpPr>
        <p:spPr>
          <a:xfrm>
            <a:off x="6422455" y="451482"/>
            <a:ext cx="512447" cy="280035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LAUNCH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591B84-9907-42EB-9E2E-49C745CDDEA1}"/>
              </a:ext>
            </a:extLst>
          </p:cNvPr>
          <p:cNvSpPr/>
          <p:nvPr/>
        </p:nvSpPr>
        <p:spPr>
          <a:xfrm>
            <a:off x="760096" y="1085848"/>
            <a:ext cx="1423034" cy="1885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chemeClr val="tx1"/>
                </a:solidFill>
                <a:latin typeface="HP Simplified Light" panose="020B0404020204020204" pitchFamily="34" charset="0"/>
              </a:rPr>
              <a:t>PRODUCT MANAGER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9D9127-B5C5-4817-A0F2-C2254FB20E00}"/>
              </a:ext>
            </a:extLst>
          </p:cNvPr>
          <p:cNvSpPr/>
          <p:nvPr/>
        </p:nvSpPr>
        <p:spPr>
          <a:xfrm>
            <a:off x="2225992" y="1085848"/>
            <a:ext cx="1423034" cy="1885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chemeClr val="tx1"/>
                </a:solidFill>
                <a:latin typeface="HP Simplified Light" panose="020B0404020204020204" pitchFamily="34" charset="0"/>
              </a:rPr>
              <a:t>PRODUCT MANAGER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310649-FEEE-4D3F-A4FA-592779C0567F}"/>
              </a:ext>
            </a:extLst>
          </p:cNvPr>
          <p:cNvSpPr/>
          <p:nvPr/>
        </p:nvSpPr>
        <p:spPr>
          <a:xfrm>
            <a:off x="3689029" y="1085848"/>
            <a:ext cx="1423034" cy="1885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chemeClr val="tx1"/>
                </a:solidFill>
                <a:latin typeface="HP Simplified Light" panose="020B0404020204020204" pitchFamily="34" charset="0"/>
              </a:rPr>
              <a:t>PRODUCT MANAGER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6B4249-1D10-431F-B887-EFD083940BE3}"/>
              </a:ext>
            </a:extLst>
          </p:cNvPr>
          <p:cNvSpPr/>
          <p:nvPr/>
        </p:nvSpPr>
        <p:spPr>
          <a:xfrm>
            <a:off x="5129205" y="1085846"/>
            <a:ext cx="1423034" cy="1885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chemeClr val="tx1"/>
                </a:solidFill>
                <a:latin typeface="HP Simplified Light" panose="020B0404020204020204" pitchFamily="34" charset="0"/>
              </a:rPr>
              <a:t>PRODUCT MANAGER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4CBFD9-1E6A-4FE6-9AF0-D8788469B30B}"/>
              </a:ext>
            </a:extLst>
          </p:cNvPr>
          <p:cNvSpPr/>
          <p:nvPr/>
        </p:nvSpPr>
        <p:spPr>
          <a:xfrm>
            <a:off x="6577948" y="1085846"/>
            <a:ext cx="1423034" cy="1885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chemeClr val="tx1"/>
                </a:solidFill>
                <a:latin typeface="HP Simplified Light" panose="020B0404020204020204" pitchFamily="34" charset="0"/>
              </a:rPr>
              <a:t>PRODUCT MANAGER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8E54779-716F-4E68-9595-FE2A56BCE2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452550"/>
              </p:ext>
            </p:extLst>
          </p:nvPr>
        </p:nvGraphicFramePr>
        <p:xfrm>
          <a:off x="760095" y="1332071"/>
          <a:ext cx="1377314" cy="7620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377314">
                  <a:extLst>
                    <a:ext uri="{9D8B030D-6E8A-4147-A177-3AD203B41FA5}">
                      <a16:colId xmlns:a16="http://schemas.microsoft.com/office/drawing/2014/main" val="347454842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•Defines/Sizes the Opportunity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22526856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•Articulates the Solution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385640652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•Coordinates Strategy Alignment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31586263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•Presents Idea at Product Summit</a:t>
                      </a: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386870213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42393F8-19F5-4A7B-9B11-A1C74A0A2A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393410"/>
              </p:ext>
            </p:extLst>
          </p:nvPr>
        </p:nvGraphicFramePr>
        <p:xfrm>
          <a:off x="2225993" y="1332071"/>
          <a:ext cx="1423034" cy="135636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423034">
                  <a:extLst>
                    <a:ext uri="{9D8B030D-6E8A-4147-A177-3AD203B41FA5}">
                      <a16:colId xmlns:a16="http://schemas.microsoft.com/office/drawing/2014/main" val="207091348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•Identify Target Segment/Customer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25280187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•Validate Market alignment to Financial Business Case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23376253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•Define the Service Design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8476931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•Value Proposition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200025" marR="0" marT="0" marB="0" anchor="b"/>
                </a:tc>
                <a:extLst>
                  <a:ext uri="{0D108BD9-81ED-4DB2-BD59-A6C34878D82A}">
                    <a16:rowId xmlns:a16="http://schemas.microsoft.com/office/drawing/2014/main" val="20502648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•Launch Strategy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200025" marR="0" marT="0" marB="0" anchor="b"/>
                </a:tc>
                <a:extLst>
                  <a:ext uri="{0D108BD9-81ED-4DB2-BD59-A6C34878D82A}">
                    <a16:rowId xmlns:a16="http://schemas.microsoft.com/office/drawing/2014/main" val="312921933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•Routes to Market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200025" marR="0" marT="0" marB="0" anchor="b"/>
                </a:tc>
                <a:extLst>
                  <a:ext uri="{0D108BD9-81ED-4DB2-BD59-A6C34878D82A}">
                    <a16:rowId xmlns:a16="http://schemas.microsoft.com/office/drawing/2014/main" val="33663394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•Sales Motions (trans/contract)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200025" marR="0" marT="0" marB="0" anchor="b"/>
                </a:tc>
                <a:extLst>
                  <a:ext uri="{0D108BD9-81ED-4DB2-BD59-A6C34878D82A}">
                    <a16:rowId xmlns:a16="http://schemas.microsoft.com/office/drawing/2014/main" val="3170419994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DDCD1506-1147-40EB-A098-7643C3EE5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705175"/>
              </p:ext>
            </p:extLst>
          </p:nvPr>
        </p:nvGraphicFramePr>
        <p:xfrm>
          <a:off x="3689030" y="1332069"/>
          <a:ext cx="1423034" cy="5715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423034">
                  <a:extLst>
                    <a:ext uri="{9D8B030D-6E8A-4147-A177-3AD203B41FA5}">
                      <a16:colId xmlns:a16="http://schemas.microsoft.com/office/drawing/2014/main" val="176052305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•Define SLOs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9625843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•Coordinate Pricing Strategy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1064154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 dirty="0">
                          <a:effectLst/>
                        </a:rPr>
                        <a:t>•Define performance KPIs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2648809115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A93B1CB2-4C24-4FB9-BE11-6FBDDAF171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072177"/>
              </p:ext>
            </p:extLst>
          </p:nvPr>
        </p:nvGraphicFramePr>
        <p:xfrm>
          <a:off x="760095" y="2151696"/>
          <a:ext cx="1377314" cy="9525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377314">
                  <a:extLst>
                    <a:ext uri="{9D8B030D-6E8A-4147-A177-3AD203B41FA5}">
                      <a16:colId xmlns:a16="http://schemas.microsoft.com/office/drawing/2014/main" val="101631388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1" u="none" strike="noStrike">
                          <a:effectLst/>
                        </a:rPr>
                        <a:t>Ongoing Management of: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27484777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•Customer Journey Map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5506439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•Service Design Definition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48441557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•Financial Business Case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389900919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•Customer Validation Activities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1635209482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9BC30BFC-D245-46AA-9EE9-A53796A8C55A}"/>
              </a:ext>
            </a:extLst>
          </p:cNvPr>
          <p:cNvSpPr txBox="1"/>
          <p:nvPr/>
        </p:nvSpPr>
        <p:spPr>
          <a:xfrm>
            <a:off x="6577948" y="1314924"/>
            <a:ext cx="1417337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defTabSz="430213">
              <a:spcAft>
                <a:spcPts val="400"/>
              </a:spcAft>
              <a:buSzPct val="100000"/>
            </a:pPr>
            <a:r>
              <a:rPr lang="en-US" sz="700">
                <a:solidFill>
                  <a:srgbClr val="000000"/>
                </a:solidFill>
                <a:cs typeface="HP Simplified" pitchFamily="34" charset="0"/>
              </a:rPr>
              <a:t>•In-Market Performance and Remediation</a:t>
            </a:r>
            <a:endParaRPr lang="en-US" sz="700">
              <a:solidFill>
                <a:srgbClr val="000000"/>
              </a:solidFill>
              <a:latin typeface="HP Simplified" pitchFamily="34" charset="0"/>
              <a:cs typeface="HP Simplified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805E00-FCB6-44FA-B1AA-0597B2BE96AE}"/>
              </a:ext>
            </a:extLst>
          </p:cNvPr>
          <p:cNvSpPr/>
          <p:nvPr/>
        </p:nvSpPr>
        <p:spPr>
          <a:xfrm>
            <a:off x="2225992" y="2746056"/>
            <a:ext cx="1423034" cy="1885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chemeClr val="tx1"/>
                </a:solidFill>
                <a:latin typeface="HP Simplified Light" panose="020B0404020204020204" pitchFamily="34" charset="0"/>
              </a:rPr>
              <a:t>LAUNCH MANAGER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71D6BC4-C75B-4AAE-81D6-5E7AF1E621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283375"/>
              </p:ext>
            </p:extLst>
          </p:nvPr>
        </p:nvGraphicFramePr>
        <p:xfrm>
          <a:off x="2225992" y="2994659"/>
          <a:ext cx="1423034" cy="1365885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423034">
                  <a:extLst>
                    <a:ext uri="{9D8B030D-6E8A-4147-A177-3AD203B41FA5}">
                      <a16:colId xmlns:a16="http://schemas.microsoft.com/office/drawing/2014/main" val="1546022286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800" b="1" u="none" strike="noStrike">
                          <a:effectLst/>
                        </a:rPr>
                        <a:t>Ongoing Management of: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42287167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•Project Timing Plan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42338431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•Project Resources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284680773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•Compliance Approvals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260570785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•Service Assets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34906666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•Implementation of SKUs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39629906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•Project Management and General Oversight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408533363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21972C2A-B3AD-4277-B76E-7AA945A916E3}"/>
              </a:ext>
            </a:extLst>
          </p:cNvPr>
          <p:cNvSpPr txBox="1"/>
          <p:nvPr/>
        </p:nvSpPr>
        <p:spPr>
          <a:xfrm>
            <a:off x="5146357" y="1895022"/>
            <a:ext cx="1405882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fontAlgn="b"/>
            <a:r>
              <a:rPr lang="en-US" sz="700"/>
              <a:t>•Closure of Project and Handoff to Markets</a:t>
            </a:r>
            <a:endParaRPr lang="en-US" sz="700">
              <a:solidFill>
                <a:srgbClr val="000000"/>
              </a:solidFill>
              <a:latin typeface="HP Simplified Light" panose="020B0404020204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2FC2F0-9E03-48DE-992D-9F59D6E4B1E5}"/>
              </a:ext>
            </a:extLst>
          </p:cNvPr>
          <p:cNvSpPr/>
          <p:nvPr/>
        </p:nvSpPr>
        <p:spPr>
          <a:xfrm>
            <a:off x="5146357" y="1666396"/>
            <a:ext cx="1405882" cy="1885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chemeClr val="tx1"/>
                </a:solidFill>
                <a:latin typeface="HP Simplified Light" panose="020B0404020204020204" pitchFamily="34" charset="0"/>
              </a:rPr>
              <a:t>LAUNCH MANAGER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7EF647A-EECB-4404-9CF6-0E3DD70354E0}"/>
              </a:ext>
            </a:extLst>
          </p:cNvPr>
          <p:cNvSpPr/>
          <p:nvPr/>
        </p:nvSpPr>
        <p:spPr>
          <a:xfrm>
            <a:off x="2225992" y="4414838"/>
            <a:ext cx="1423034" cy="1885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chemeClr val="tx1"/>
                </a:solidFill>
                <a:latin typeface="HP Simplified Light" panose="020B0404020204020204" pitchFamily="34" charset="0"/>
              </a:rPr>
              <a:t>COE Group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192C31-B1EE-4D5C-AD79-343EB6A96C37}"/>
              </a:ext>
            </a:extLst>
          </p:cNvPr>
          <p:cNvSpPr txBox="1"/>
          <p:nvPr/>
        </p:nvSpPr>
        <p:spPr>
          <a:xfrm>
            <a:off x="2225992" y="4674870"/>
            <a:ext cx="1423034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defTabSz="430213">
              <a:spcAft>
                <a:spcPts val="400"/>
              </a:spcAft>
              <a:buSzPct val="100000"/>
            </a:pPr>
            <a:r>
              <a:rPr lang="en-US" sz="700"/>
              <a:t>•Collect feedback from Biz Mgmt on Service Design </a:t>
            </a:r>
            <a:endParaRPr lang="en-US" sz="700">
              <a:solidFill>
                <a:srgbClr val="000000"/>
              </a:solidFill>
              <a:latin typeface="HP Simplified" pitchFamily="34" charset="0"/>
              <a:cs typeface="HP Simplified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6382881-75D3-4494-A067-33E50741251A}"/>
              </a:ext>
            </a:extLst>
          </p:cNvPr>
          <p:cNvSpPr/>
          <p:nvPr/>
        </p:nvSpPr>
        <p:spPr>
          <a:xfrm>
            <a:off x="3689029" y="1963098"/>
            <a:ext cx="1423034" cy="1885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chemeClr val="tx1"/>
                </a:solidFill>
                <a:latin typeface="HP Simplified Light" panose="020B0404020204020204" pitchFamily="34" charset="0"/>
              </a:rPr>
              <a:t>COE Group</a:t>
            </a: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C7C7D25F-18AD-405F-A096-B9F30DCFC6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99426"/>
              </p:ext>
            </p:extLst>
          </p:nvPr>
        </p:nvGraphicFramePr>
        <p:xfrm>
          <a:off x="3696173" y="2188365"/>
          <a:ext cx="1408745" cy="99822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408745">
                  <a:extLst>
                    <a:ext uri="{9D8B030D-6E8A-4147-A177-3AD203B41FA5}">
                      <a16:colId xmlns:a16="http://schemas.microsoft.com/office/drawing/2014/main" val="286405373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•Oversee discounting strategy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16302218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 dirty="0">
                          <a:effectLst/>
                        </a:rPr>
                        <a:t>•Market alignment to Financial Business Case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121785363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•Define Tactical GTM Execution Plan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20089438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•Localization of Marketing assets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40044682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 dirty="0">
                          <a:effectLst/>
                        </a:rPr>
                        <a:t>•Identify Early Adopter Accounts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2277563288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4324464E-4DD5-4724-8579-798DF21B08B3}"/>
              </a:ext>
            </a:extLst>
          </p:cNvPr>
          <p:cNvSpPr txBox="1"/>
          <p:nvPr/>
        </p:nvSpPr>
        <p:spPr>
          <a:xfrm>
            <a:off x="6577948" y="1901584"/>
            <a:ext cx="1405881" cy="2000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defTabSz="430213">
              <a:spcAft>
                <a:spcPts val="400"/>
              </a:spcAft>
              <a:buSzPct val="100000"/>
            </a:pPr>
            <a:r>
              <a:rPr lang="en-US" sz="700">
                <a:solidFill>
                  <a:srgbClr val="000000"/>
                </a:solidFill>
                <a:cs typeface="HP Simplified" pitchFamily="34" charset="0"/>
              </a:rPr>
              <a:t>•Monitor Service Incubation</a:t>
            </a:r>
            <a:endParaRPr lang="en-US" sz="700">
              <a:solidFill>
                <a:srgbClr val="000000"/>
              </a:solidFill>
              <a:latin typeface="HP Simplified" pitchFamily="34" charset="0"/>
              <a:cs typeface="HP Simplified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DDD02D7-8534-484A-8FA9-A9A3FCB593AB}"/>
              </a:ext>
            </a:extLst>
          </p:cNvPr>
          <p:cNvSpPr/>
          <p:nvPr/>
        </p:nvSpPr>
        <p:spPr>
          <a:xfrm>
            <a:off x="6586505" y="1666396"/>
            <a:ext cx="1405882" cy="1885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chemeClr val="tx1"/>
                </a:solidFill>
                <a:latin typeface="HP Simplified Light" panose="020B0404020204020204" pitchFamily="34" charset="0"/>
              </a:rPr>
              <a:t>COE Group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A05783-A1E3-4F1A-B98C-4527AAD167D3}"/>
              </a:ext>
            </a:extLst>
          </p:cNvPr>
          <p:cNvSpPr txBox="1"/>
          <p:nvPr/>
        </p:nvSpPr>
        <p:spPr>
          <a:xfrm>
            <a:off x="5146356" y="1314444"/>
            <a:ext cx="1405883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fontAlgn="b"/>
            <a:r>
              <a:rPr lang="en-US" sz="700"/>
              <a:t>•Ensure readiness of performance KPIs</a:t>
            </a:r>
            <a:endParaRPr lang="en-US" sz="700">
              <a:solidFill>
                <a:srgbClr val="000000"/>
              </a:solidFill>
              <a:latin typeface="HP Simplified Light" panose="020B0404020204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F331276-4976-40CE-AA6A-AF761B7BE566}"/>
              </a:ext>
            </a:extLst>
          </p:cNvPr>
          <p:cNvSpPr/>
          <p:nvPr/>
        </p:nvSpPr>
        <p:spPr>
          <a:xfrm>
            <a:off x="3689028" y="3200394"/>
            <a:ext cx="1423034" cy="1885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chemeClr val="tx1"/>
                </a:solidFill>
                <a:latin typeface="HP Simplified Light" panose="020B0404020204020204" pitchFamily="34" charset="0"/>
              </a:rPr>
              <a:t>DELIVERY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67E5679D-961E-4D1C-AEB0-58C776117F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858200"/>
              </p:ext>
            </p:extLst>
          </p:nvPr>
        </p:nvGraphicFramePr>
        <p:xfrm>
          <a:off x="3689028" y="3448521"/>
          <a:ext cx="1415890" cy="99441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415890">
                  <a:extLst>
                    <a:ext uri="{9D8B030D-6E8A-4147-A177-3AD203B41FA5}">
                      <a16:colId xmlns:a16="http://schemas.microsoft.com/office/drawing/2014/main" val="396806332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•Select External Partners and Sign Contracts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335946071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•Develop Delivery Capability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23111113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•Finalize Delivery Cost Model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76146094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•Draft Playbooks and SOPs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148835987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•Create Delivery Training Assets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878709238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98CE5767-7A87-49FC-9D67-50B3F90D2F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78460"/>
              </p:ext>
            </p:extLst>
          </p:nvPr>
        </p:nvGraphicFramePr>
        <p:xfrm>
          <a:off x="5136184" y="2504001"/>
          <a:ext cx="1423034" cy="5715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423034">
                  <a:extLst>
                    <a:ext uri="{9D8B030D-6E8A-4147-A177-3AD203B41FA5}">
                      <a16:colId xmlns:a16="http://schemas.microsoft.com/office/drawing/2014/main" val="49679178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•Complete Partner Onboarding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28889278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•Complete Delivery Training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163331327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•Enable Capability at Scale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2275979073"/>
                  </a:ext>
                </a:extLst>
              </a:tr>
            </a:tbl>
          </a:graphicData>
        </a:graphic>
      </p:graphicFrame>
      <p:sp>
        <p:nvSpPr>
          <p:cNvPr id="36" name="Rectangle 35">
            <a:extLst>
              <a:ext uri="{FF2B5EF4-FFF2-40B4-BE49-F238E27FC236}">
                <a16:creationId xmlns:a16="http://schemas.microsoft.com/office/drawing/2014/main" id="{13156444-DA6E-4D8E-A4E8-5795B357E0F1}"/>
              </a:ext>
            </a:extLst>
          </p:cNvPr>
          <p:cNvSpPr/>
          <p:nvPr/>
        </p:nvSpPr>
        <p:spPr>
          <a:xfrm>
            <a:off x="5143398" y="2265992"/>
            <a:ext cx="1405882" cy="1885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chemeClr val="tx1"/>
                </a:solidFill>
                <a:latin typeface="HP Simplified Light" panose="020B0404020204020204" pitchFamily="34" charset="0"/>
              </a:rPr>
              <a:t>DELIVERY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CBC7626-4C22-4A7F-8522-F03CE4B22D9F}"/>
              </a:ext>
            </a:extLst>
          </p:cNvPr>
          <p:cNvSpPr/>
          <p:nvPr/>
        </p:nvSpPr>
        <p:spPr>
          <a:xfrm>
            <a:off x="6577947" y="2164729"/>
            <a:ext cx="1405882" cy="1885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chemeClr val="tx1"/>
                </a:solidFill>
                <a:latin typeface="HP Simplified Light" panose="020B0404020204020204" pitchFamily="34" charset="0"/>
              </a:rPr>
              <a:t>DELIVERY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97238B-3A12-409C-B161-98FDADF01253}"/>
              </a:ext>
            </a:extLst>
          </p:cNvPr>
          <p:cNvSpPr txBox="1"/>
          <p:nvPr/>
        </p:nvSpPr>
        <p:spPr>
          <a:xfrm>
            <a:off x="6582227" y="2394968"/>
            <a:ext cx="1407343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defTabSz="430213">
              <a:spcAft>
                <a:spcPts val="400"/>
              </a:spcAft>
              <a:buSzPct val="100000"/>
            </a:pPr>
            <a:r>
              <a:rPr lang="en-US" sz="700">
                <a:solidFill>
                  <a:srgbClr val="000000"/>
                </a:solidFill>
                <a:cs typeface="HP Simplified" pitchFamily="34" charset="0"/>
              </a:rPr>
              <a:t>•Ensure Delivery Performance to KPIs</a:t>
            </a:r>
            <a:endParaRPr lang="en-US" sz="700">
              <a:solidFill>
                <a:srgbClr val="000000"/>
              </a:solidFill>
              <a:latin typeface="HP Simplified" pitchFamily="34" charset="0"/>
              <a:cs typeface="HP Simplified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6558C27-EE24-4CFE-A671-07EAA1826D93}"/>
              </a:ext>
            </a:extLst>
          </p:cNvPr>
          <p:cNvSpPr/>
          <p:nvPr/>
        </p:nvSpPr>
        <p:spPr>
          <a:xfrm>
            <a:off x="5143398" y="3155376"/>
            <a:ext cx="1405882" cy="1885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chemeClr val="tx1"/>
                </a:solidFill>
                <a:latin typeface="HP Simplified Light" panose="020B0404020204020204" pitchFamily="34" charset="0"/>
              </a:rPr>
              <a:t>PRODUCT MARKETING</a:t>
            </a:r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FA91DC42-D965-442A-B4F5-3DEC59F20A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886380"/>
              </p:ext>
            </p:extLst>
          </p:nvPr>
        </p:nvGraphicFramePr>
        <p:xfrm>
          <a:off x="5136184" y="3412355"/>
          <a:ext cx="1405882" cy="42672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405882">
                  <a:extLst>
                    <a:ext uri="{9D8B030D-6E8A-4147-A177-3AD203B41FA5}">
                      <a16:colId xmlns:a16="http://schemas.microsoft.com/office/drawing/2014/main" val="244646749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•Publish Marketing and Sales Enablement Collateral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12957685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•Support Levels 1-2 Sales Training Activities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750947626"/>
                  </a:ext>
                </a:extLst>
              </a:tr>
            </a:tbl>
          </a:graphicData>
        </a:graphic>
      </p:graphicFrame>
      <p:sp>
        <p:nvSpPr>
          <p:cNvPr id="43" name="Rectangle 42">
            <a:extLst>
              <a:ext uri="{FF2B5EF4-FFF2-40B4-BE49-F238E27FC236}">
                <a16:creationId xmlns:a16="http://schemas.microsoft.com/office/drawing/2014/main" id="{747EE0A6-43EB-43B1-8F37-EB62577EE4D3}"/>
              </a:ext>
            </a:extLst>
          </p:cNvPr>
          <p:cNvSpPr/>
          <p:nvPr/>
        </p:nvSpPr>
        <p:spPr>
          <a:xfrm>
            <a:off x="6586505" y="2753197"/>
            <a:ext cx="1397324" cy="1885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chemeClr val="tx1"/>
                </a:solidFill>
                <a:latin typeface="HP Simplified Light" panose="020B0404020204020204" pitchFamily="34" charset="0"/>
              </a:rPr>
              <a:t>PRODUCT MARKETING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CFF6B94-5F51-4733-8B88-C4C9E0C2862D}"/>
              </a:ext>
            </a:extLst>
          </p:cNvPr>
          <p:cNvSpPr txBox="1"/>
          <p:nvPr/>
        </p:nvSpPr>
        <p:spPr>
          <a:xfrm>
            <a:off x="6573669" y="2981555"/>
            <a:ext cx="1405882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defTabSz="430213">
              <a:spcAft>
                <a:spcPts val="400"/>
              </a:spcAft>
              <a:buSzPct val="100000"/>
            </a:pPr>
            <a:r>
              <a:rPr lang="en-US" sz="700">
                <a:solidFill>
                  <a:srgbClr val="000000"/>
                </a:solidFill>
                <a:cs typeface="HP Simplified" pitchFamily="34" charset="0"/>
              </a:rPr>
              <a:t>•Coordinate External Launch Communications</a:t>
            </a:r>
            <a:endParaRPr lang="en-US" sz="700">
              <a:solidFill>
                <a:srgbClr val="000000"/>
              </a:solidFill>
              <a:latin typeface="HP Simplified" pitchFamily="34" charset="0"/>
              <a:cs typeface="HP Simplifie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998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3DE3FFA-42E8-4BD9-983D-A2D9D39FEC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3DE3FFA-42E8-4BD9-983D-A2D9D39FEC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29CE6AF-6BD7-4A05-AD62-B04989E1691E}"/>
              </a:ext>
            </a:extLst>
          </p:cNvPr>
          <p:cNvSpPr txBox="1"/>
          <p:nvPr/>
        </p:nvSpPr>
        <p:spPr>
          <a:xfrm>
            <a:off x="6038831" y="4191920"/>
            <a:ext cx="3021973" cy="891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387192">
              <a:spcAft>
                <a:spcPts val="360"/>
              </a:spcAft>
              <a:buSzPct val="100000"/>
            </a:pPr>
            <a:r>
              <a:rPr lang="en-US" b="1">
                <a:solidFill>
                  <a:srgbClr val="0096D6"/>
                </a:solidFill>
                <a:latin typeface="HP Simplified Light" panose="020B0404020204020204" pitchFamily="34" charset="0"/>
                <a:cs typeface="HP Simplified" pitchFamily="34" charset="0"/>
              </a:rPr>
              <a:t>Quick Glance:  PS Services E2E Product Management Process</a:t>
            </a:r>
          </a:p>
          <a:p>
            <a:pPr algn="r" defTabSz="387192">
              <a:spcAft>
                <a:spcPts val="360"/>
              </a:spcAft>
              <a:buSzPct val="100000"/>
            </a:pPr>
            <a:r>
              <a:rPr lang="en-US" sz="1260" b="1">
                <a:solidFill>
                  <a:srgbClr val="0096D6"/>
                </a:solidFill>
                <a:latin typeface="HP Simplified Light" panose="020B0404020204020204" pitchFamily="34" charset="0"/>
                <a:cs typeface="HP Simplified" pitchFamily="34" charset="0"/>
              </a:rPr>
              <a:t>R2.2 Guidebook (2 of 2)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B2BD0FE-43F6-4BCE-A43F-A363325D985E}"/>
              </a:ext>
            </a:extLst>
          </p:cNvPr>
          <p:cNvGraphicFramePr/>
          <p:nvPr/>
        </p:nvGraphicFramePr>
        <p:xfrm>
          <a:off x="760095" y="-45721"/>
          <a:ext cx="7538085" cy="12744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32AF4EEB-2116-4FD4-8B53-9FA21DB2C279}"/>
              </a:ext>
            </a:extLst>
          </p:cNvPr>
          <p:cNvSpPr/>
          <p:nvPr/>
        </p:nvSpPr>
        <p:spPr>
          <a:xfrm>
            <a:off x="2183129" y="451483"/>
            <a:ext cx="405765" cy="28003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POI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A673E7-EA3E-4097-B9BB-F64E1BC50AD8}"/>
              </a:ext>
            </a:extLst>
          </p:cNvPr>
          <p:cNvSpPr/>
          <p:nvPr/>
        </p:nvSpPr>
        <p:spPr>
          <a:xfrm>
            <a:off x="3606163" y="451483"/>
            <a:ext cx="405765" cy="28003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/>
              <a:t>POR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A5375A-4CA8-4151-AA02-B1766C07E21C}"/>
              </a:ext>
            </a:extLst>
          </p:cNvPr>
          <p:cNvSpPr/>
          <p:nvPr/>
        </p:nvSpPr>
        <p:spPr>
          <a:xfrm>
            <a:off x="5029197" y="451483"/>
            <a:ext cx="512447" cy="28003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COMMIT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9D9127-B5C5-4817-A0F2-C2254FB20E00}"/>
              </a:ext>
            </a:extLst>
          </p:cNvPr>
          <p:cNvSpPr/>
          <p:nvPr/>
        </p:nvSpPr>
        <p:spPr>
          <a:xfrm>
            <a:off x="2225992" y="1085848"/>
            <a:ext cx="1423034" cy="1885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chemeClr val="tx1"/>
                </a:solidFill>
                <a:latin typeface="HP Simplified Light" panose="020B0404020204020204" pitchFamily="34" charset="0"/>
              </a:rPr>
              <a:t>DELIVERY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310649-FEEE-4D3F-A4FA-592779C0567F}"/>
              </a:ext>
            </a:extLst>
          </p:cNvPr>
          <p:cNvSpPr/>
          <p:nvPr/>
        </p:nvSpPr>
        <p:spPr>
          <a:xfrm>
            <a:off x="3689029" y="1085848"/>
            <a:ext cx="1423034" cy="1885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chemeClr val="tx1"/>
                </a:solidFill>
                <a:latin typeface="HP Simplified Light" panose="020B0404020204020204" pitchFamily="34" charset="0"/>
              </a:rPr>
              <a:t>QUOTE TO CASH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6B4249-1D10-431F-B887-EFD083940BE3}"/>
              </a:ext>
            </a:extLst>
          </p:cNvPr>
          <p:cNvSpPr/>
          <p:nvPr/>
        </p:nvSpPr>
        <p:spPr>
          <a:xfrm>
            <a:off x="5129205" y="1085846"/>
            <a:ext cx="1423034" cy="1885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chemeClr val="tx1"/>
                </a:solidFill>
                <a:latin typeface="HP Simplified Light" panose="020B0404020204020204" pitchFamily="34" charset="0"/>
              </a:rPr>
              <a:t>QUOTE TO CASH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4CBFD9-1E6A-4FE6-9AF0-D8788469B30B}"/>
              </a:ext>
            </a:extLst>
          </p:cNvPr>
          <p:cNvSpPr/>
          <p:nvPr/>
        </p:nvSpPr>
        <p:spPr>
          <a:xfrm>
            <a:off x="6577948" y="1085846"/>
            <a:ext cx="1423034" cy="1885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chemeClr val="tx1"/>
                </a:solidFill>
                <a:latin typeface="HP Simplified Light" panose="020B0404020204020204" pitchFamily="34" charset="0"/>
              </a:rPr>
              <a:t>SALES ENABLEMENT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23BB0EF0-8D5B-4E16-9C20-315E27217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778360"/>
              </p:ext>
            </p:extLst>
          </p:nvPr>
        </p:nvGraphicFramePr>
        <p:xfrm>
          <a:off x="2225992" y="1335403"/>
          <a:ext cx="1434465" cy="78105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434465">
                  <a:extLst>
                    <a:ext uri="{9D8B030D-6E8A-4147-A177-3AD203B41FA5}">
                      <a16:colId xmlns:a16="http://schemas.microsoft.com/office/drawing/2014/main" val="3968288221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•Select Appropriate Internal Delivery Organization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2139188184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•Engage Potential External Delivery Partners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5823608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•Complete Delivery Capability Assessment and Develop Resource Plan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3204769234"/>
                  </a:ext>
                </a:extLst>
              </a:tr>
            </a:tbl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21A21C81-59BD-4D72-B54E-48BE145E44BF}"/>
              </a:ext>
            </a:extLst>
          </p:cNvPr>
          <p:cNvSpPr/>
          <p:nvPr/>
        </p:nvSpPr>
        <p:spPr>
          <a:xfrm>
            <a:off x="2225992" y="2171695"/>
            <a:ext cx="1423034" cy="1885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chemeClr val="tx1"/>
                </a:solidFill>
                <a:latin typeface="HP Simplified Light" panose="020B0404020204020204" pitchFamily="34" charset="0"/>
              </a:rPr>
              <a:t>QUOTE TO CASH</a:t>
            </a: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5A08B920-EE23-4ED2-A8A7-83F7108007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892066"/>
              </p:ext>
            </p:extLst>
          </p:nvPr>
        </p:nvGraphicFramePr>
        <p:xfrm>
          <a:off x="2225992" y="2415535"/>
          <a:ext cx="1423034" cy="38069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423034">
                  <a:extLst>
                    <a:ext uri="{9D8B030D-6E8A-4147-A177-3AD203B41FA5}">
                      <a16:colId xmlns:a16="http://schemas.microsoft.com/office/drawing/2014/main" val="1743224246"/>
                    </a:ext>
                  </a:extLst>
                </a:gridCol>
              </a:tblGrid>
              <a:tr h="167336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•Develop "high level assessment"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3395496028"/>
                  </a:ext>
                </a:extLst>
              </a:tr>
              <a:tr h="204139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•Prepare High level Q2C process flow diagram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646612421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E8158CA2-99BE-4E00-BCEB-CA6998CB5F55}"/>
              </a:ext>
            </a:extLst>
          </p:cNvPr>
          <p:cNvSpPr txBox="1"/>
          <p:nvPr/>
        </p:nvSpPr>
        <p:spPr>
          <a:xfrm>
            <a:off x="3689029" y="1335403"/>
            <a:ext cx="1423034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defTabSz="430213">
              <a:spcAft>
                <a:spcPts val="400"/>
              </a:spcAft>
              <a:buSzPct val="100000"/>
            </a:pPr>
            <a:r>
              <a:rPr lang="en-US" sz="700"/>
              <a:t>•Produce detailed Q2C process flow</a:t>
            </a:r>
            <a:endParaRPr lang="en-US" sz="700">
              <a:solidFill>
                <a:srgbClr val="000000"/>
              </a:solidFill>
              <a:latin typeface="HP Simplified" pitchFamily="34" charset="0"/>
              <a:cs typeface="HP Simplified" pitchFamily="34" charset="0"/>
            </a:endParaRP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DBE87597-77E3-4259-94FC-01FECC1DB1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980447"/>
              </p:ext>
            </p:extLst>
          </p:nvPr>
        </p:nvGraphicFramePr>
        <p:xfrm>
          <a:off x="5129205" y="1335403"/>
          <a:ext cx="1423035" cy="970915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423035">
                  <a:extLst>
                    <a:ext uri="{9D8B030D-6E8A-4147-A177-3AD203B41FA5}">
                      <a16:colId xmlns:a16="http://schemas.microsoft.com/office/drawing/2014/main" val="2463380642"/>
                    </a:ext>
                  </a:extLst>
                </a:gridCol>
              </a:tblGrid>
              <a:tr h="18605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•Prepare and validate test plan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175305638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•Conduct pre-testing readiness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220827993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•Orchestrate test execution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10447205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•Update Q2C process flow diagrams based on test results 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36712286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 dirty="0">
                          <a:effectLst/>
                        </a:rPr>
                        <a:t>•Document and publish RACI 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3086634698"/>
                  </a:ext>
                </a:extLst>
              </a:tr>
            </a:tbl>
          </a:graphicData>
        </a:graphic>
      </p:graphicFrame>
      <p:sp>
        <p:nvSpPr>
          <p:cNvPr id="41" name="Rectangle 40">
            <a:extLst>
              <a:ext uri="{FF2B5EF4-FFF2-40B4-BE49-F238E27FC236}">
                <a16:creationId xmlns:a16="http://schemas.microsoft.com/office/drawing/2014/main" id="{EC00BA97-482D-491E-87D2-E64D8FE97BE9}"/>
              </a:ext>
            </a:extLst>
          </p:cNvPr>
          <p:cNvSpPr/>
          <p:nvPr/>
        </p:nvSpPr>
        <p:spPr>
          <a:xfrm>
            <a:off x="2225992" y="2851473"/>
            <a:ext cx="1423034" cy="1885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chemeClr val="tx1"/>
                </a:solidFill>
                <a:latin typeface="HP Simplified Light" panose="020B0404020204020204" pitchFamily="34" charset="0"/>
              </a:rPr>
              <a:t>PRODUCT MARKETING</a:t>
            </a:r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C87B834C-C1F9-42AF-8F5E-D13915710E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014773"/>
              </p:ext>
            </p:extLst>
          </p:nvPr>
        </p:nvGraphicFramePr>
        <p:xfrm>
          <a:off x="2225992" y="3102938"/>
          <a:ext cx="1420179" cy="40386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420179">
                  <a:extLst>
                    <a:ext uri="{9D8B030D-6E8A-4147-A177-3AD203B41FA5}">
                      <a16:colId xmlns:a16="http://schemas.microsoft.com/office/drawing/2014/main" val="97400990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•Define Marketing and Sales Enablement Engagement Strategy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26248017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•Prepare XYZ Framework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2618146863"/>
                  </a:ext>
                </a:extLst>
              </a:tr>
            </a:tbl>
          </a:graphicData>
        </a:graphic>
      </p:graphicFrame>
      <p:sp>
        <p:nvSpPr>
          <p:cNvPr id="44" name="Rectangle 43">
            <a:extLst>
              <a:ext uri="{FF2B5EF4-FFF2-40B4-BE49-F238E27FC236}">
                <a16:creationId xmlns:a16="http://schemas.microsoft.com/office/drawing/2014/main" id="{DF697252-F59F-46D1-80E6-B29D856E4F5B}"/>
              </a:ext>
            </a:extLst>
          </p:cNvPr>
          <p:cNvSpPr/>
          <p:nvPr/>
        </p:nvSpPr>
        <p:spPr>
          <a:xfrm>
            <a:off x="3689029" y="1704137"/>
            <a:ext cx="1423034" cy="1885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chemeClr val="tx1"/>
                </a:solidFill>
                <a:latin typeface="HP Simplified Light" panose="020B0404020204020204" pitchFamily="34" charset="0"/>
              </a:rPr>
              <a:t>PRODUCT MARKETING</a:t>
            </a:r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EE3A83EB-80DF-4AF6-BDEB-9FD2AB027A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419588"/>
              </p:ext>
            </p:extLst>
          </p:nvPr>
        </p:nvGraphicFramePr>
        <p:xfrm>
          <a:off x="3689029" y="1932083"/>
          <a:ext cx="1423034" cy="40386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423034">
                  <a:extLst>
                    <a:ext uri="{9D8B030D-6E8A-4147-A177-3AD203B41FA5}">
                      <a16:colId xmlns:a16="http://schemas.microsoft.com/office/drawing/2014/main" val="101193090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 dirty="0">
                          <a:effectLst/>
                        </a:rPr>
                        <a:t>•Define Marketing BOM and Workback Schedule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169198104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 dirty="0">
                          <a:effectLst/>
                        </a:rPr>
                        <a:t>•Create External Marketing Assets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816387992"/>
                  </a:ext>
                </a:extLst>
              </a:tr>
            </a:tbl>
          </a:graphicData>
        </a:graphic>
      </p:graphicFrame>
      <p:sp>
        <p:nvSpPr>
          <p:cNvPr id="49" name="Rectangle 48">
            <a:extLst>
              <a:ext uri="{FF2B5EF4-FFF2-40B4-BE49-F238E27FC236}">
                <a16:creationId xmlns:a16="http://schemas.microsoft.com/office/drawing/2014/main" id="{52B3CC7C-6A53-4F00-B2B6-1313361F8DF3}"/>
              </a:ext>
            </a:extLst>
          </p:cNvPr>
          <p:cNvSpPr/>
          <p:nvPr/>
        </p:nvSpPr>
        <p:spPr>
          <a:xfrm>
            <a:off x="2224564" y="3544900"/>
            <a:ext cx="1423034" cy="1885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chemeClr val="tx1"/>
                </a:solidFill>
                <a:latin typeface="HP Simplified Light" panose="020B0404020204020204" pitchFamily="34" charset="0"/>
              </a:rPr>
              <a:t>SW PLATFORM</a:t>
            </a:r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F0B37541-FC57-4679-AE34-C148CECC7A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050171"/>
              </p:ext>
            </p:extLst>
          </p:nvPr>
        </p:nvGraphicFramePr>
        <p:xfrm>
          <a:off x="2224564" y="3779220"/>
          <a:ext cx="1421607" cy="682848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421607">
                  <a:extLst>
                    <a:ext uri="{9D8B030D-6E8A-4147-A177-3AD203B41FA5}">
                      <a16:colId xmlns:a16="http://schemas.microsoft.com/office/drawing/2014/main" val="3159807209"/>
                    </a:ext>
                  </a:extLst>
                </a:gridCol>
              </a:tblGrid>
              <a:tr h="21513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•Define technical requirements and feature sets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43162863"/>
                  </a:ext>
                </a:extLst>
              </a:tr>
              <a:tr h="183921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•Conduct User Experience (UX) design reviews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1722077819"/>
                  </a:ext>
                </a:extLst>
              </a:tr>
              <a:tr h="254353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•Provide SW Engineering commitments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3859423611"/>
                  </a:ext>
                </a:extLst>
              </a:tr>
            </a:tbl>
          </a:graphicData>
        </a:graphic>
      </p:graphicFrame>
      <p:sp>
        <p:nvSpPr>
          <p:cNvPr id="52" name="Rectangle 51">
            <a:extLst>
              <a:ext uri="{FF2B5EF4-FFF2-40B4-BE49-F238E27FC236}">
                <a16:creationId xmlns:a16="http://schemas.microsoft.com/office/drawing/2014/main" id="{80BAE2B0-0278-475B-A297-5F2282599EDA}"/>
              </a:ext>
            </a:extLst>
          </p:cNvPr>
          <p:cNvSpPr/>
          <p:nvPr/>
        </p:nvSpPr>
        <p:spPr>
          <a:xfrm>
            <a:off x="3689029" y="2387373"/>
            <a:ext cx="1423034" cy="1885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chemeClr val="tx1"/>
                </a:solidFill>
                <a:latin typeface="HP Simplified Light" panose="020B0404020204020204" pitchFamily="34" charset="0"/>
              </a:rPr>
              <a:t>SW PLATFORM</a:t>
            </a:r>
          </a:p>
        </p:txBody>
      </p:sp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10E2706D-4768-4549-A1ED-F1C3FFFB2F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464141"/>
              </p:ext>
            </p:extLst>
          </p:nvPr>
        </p:nvGraphicFramePr>
        <p:xfrm>
          <a:off x="3689029" y="2650261"/>
          <a:ext cx="1420179" cy="5334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420179">
                  <a:extLst>
                    <a:ext uri="{9D8B030D-6E8A-4147-A177-3AD203B41FA5}">
                      <a16:colId xmlns:a16="http://schemas.microsoft.com/office/drawing/2014/main" val="344561358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•Oversee code development, testing and release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194894396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•Define and execute HP-on-HP software evaluation activities (dogfooding)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3318831093"/>
                  </a:ext>
                </a:extLst>
              </a:tr>
            </a:tbl>
          </a:graphicData>
        </a:graphic>
      </p:graphicFrame>
      <p:sp>
        <p:nvSpPr>
          <p:cNvPr id="55" name="Rectangle 54">
            <a:extLst>
              <a:ext uri="{FF2B5EF4-FFF2-40B4-BE49-F238E27FC236}">
                <a16:creationId xmlns:a16="http://schemas.microsoft.com/office/drawing/2014/main" id="{13D728BD-746C-4B51-871B-9AC1C322198B}"/>
              </a:ext>
            </a:extLst>
          </p:cNvPr>
          <p:cNvSpPr/>
          <p:nvPr/>
        </p:nvSpPr>
        <p:spPr>
          <a:xfrm>
            <a:off x="5129205" y="2347373"/>
            <a:ext cx="1423034" cy="1885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chemeClr val="tx1"/>
                </a:solidFill>
                <a:latin typeface="HP Simplified Light" panose="020B0404020204020204" pitchFamily="34" charset="0"/>
              </a:rPr>
              <a:t>SW PLATFORM</a:t>
            </a:r>
          </a:p>
        </p:txBody>
      </p:sp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D5ECA404-86D4-42FC-A216-9202A4430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297983"/>
              </p:ext>
            </p:extLst>
          </p:nvPr>
        </p:nvGraphicFramePr>
        <p:xfrm>
          <a:off x="5129205" y="2571750"/>
          <a:ext cx="1420179" cy="64008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420179">
                  <a:extLst>
                    <a:ext uri="{9D8B030D-6E8A-4147-A177-3AD203B41FA5}">
                      <a16:colId xmlns:a16="http://schemas.microsoft.com/office/drawing/2014/main" val="242107569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•Review and signoff of software readiness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19213376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•Provide software demos to business teams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37215781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•Testing of software deployment and capability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85563546"/>
                  </a:ext>
                </a:extLst>
              </a:tr>
            </a:tbl>
          </a:graphicData>
        </a:graphic>
      </p:graphicFrame>
      <p:sp>
        <p:nvSpPr>
          <p:cNvPr id="58" name="Rectangle 57">
            <a:extLst>
              <a:ext uri="{FF2B5EF4-FFF2-40B4-BE49-F238E27FC236}">
                <a16:creationId xmlns:a16="http://schemas.microsoft.com/office/drawing/2014/main" id="{AD295445-917F-4D24-BB79-5870F3636564}"/>
              </a:ext>
            </a:extLst>
          </p:cNvPr>
          <p:cNvSpPr/>
          <p:nvPr/>
        </p:nvSpPr>
        <p:spPr>
          <a:xfrm>
            <a:off x="3687601" y="3224211"/>
            <a:ext cx="1423034" cy="1885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chemeClr val="tx1"/>
                </a:solidFill>
                <a:latin typeface="HP Simplified Light" panose="020B0404020204020204" pitchFamily="34" charset="0"/>
              </a:rPr>
              <a:t>SALES ENABLEMENT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228EA23-DE02-4563-9A93-4DE002B3DCC3}"/>
              </a:ext>
            </a:extLst>
          </p:cNvPr>
          <p:cNvSpPr txBox="1"/>
          <p:nvPr/>
        </p:nvSpPr>
        <p:spPr>
          <a:xfrm>
            <a:off x="3686174" y="3464239"/>
            <a:ext cx="1423034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defTabSz="430213">
              <a:spcAft>
                <a:spcPts val="400"/>
              </a:spcAft>
              <a:buSzPct val="100000"/>
            </a:pPr>
            <a:r>
              <a:rPr lang="en-US" sz="700"/>
              <a:t>•Support creation of Sales Enablement assets</a:t>
            </a:r>
            <a:endParaRPr lang="en-US" sz="700">
              <a:solidFill>
                <a:srgbClr val="000000"/>
              </a:solidFill>
              <a:latin typeface="HP Simplified" pitchFamily="34" charset="0"/>
              <a:cs typeface="HP Simplified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DD8A804-0814-4B95-A5B6-D3060B2321BF}"/>
              </a:ext>
            </a:extLst>
          </p:cNvPr>
          <p:cNvSpPr/>
          <p:nvPr/>
        </p:nvSpPr>
        <p:spPr>
          <a:xfrm>
            <a:off x="5127777" y="3255181"/>
            <a:ext cx="1423034" cy="1885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chemeClr val="tx1"/>
                </a:solidFill>
                <a:latin typeface="HP Simplified Light" panose="020B0404020204020204" pitchFamily="34" charset="0"/>
              </a:rPr>
              <a:t>SALES ENABLEMENT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8C6CECC-D6C6-4BA7-A334-53A1263E3803}"/>
              </a:ext>
            </a:extLst>
          </p:cNvPr>
          <p:cNvSpPr txBox="1"/>
          <p:nvPr/>
        </p:nvSpPr>
        <p:spPr>
          <a:xfrm>
            <a:off x="5126350" y="3493525"/>
            <a:ext cx="1423034" cy="2000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defTabSz="430213">
              <a:spcAft>
                <a:spcPts val="400"/>
              </a:spcAft>
              <a:buSzPct val="100000"/>
            </a:pPr>
            <a:r>
              <a:rPr lang="en-US" sz="700"/>
              <a:t>•Create Solution Source Pages</a:t>
            </a:r>
            <a:endParaRPr lang="en-US" sz="700">
              <a:solidFill>
                <a:srgbClr val="000000"/>
              </a:solidFill>
              <a:latin typeface="HP Simplified" pitchFamily="34" charset="0"/>
              <a:cs typeface="HP Simplified" pitchFamily="34" charset="0"/>
            </a:endParaRPr>
          </a:p>
        </p:txBody>
      </p:sp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8074719D-D777-4B08-9A27-1CCCD63584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156928"/>
              </p:ext>
            </p:extLst>
          </p:nvPr>
        </p:nvGraphicFramePr>
        <p:xfrm>
          <a:off x="6577948" y="1341114"/>
          <a:ext cx="1423034" cy="5334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423034">
                  <a:extLst>
                    <a:ext uri="{9D8B030D-6E8A-4147-A177-3AD203B41FA5}">
                      <a16:colId xmlns:a16="http://schemas.microsoft.com/office/drawing/2014/main" val="367406428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•Direct Internal Launch Communications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14403405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700" u="none" strike="noStrike">
                          <a:effectLst/>
                        </a:rPr>
                        <a:t>•Create Web-Based Training (WBT) Modules for Levels 1 and 2 Sales and Pursuit Teams</a:t>
                      </a: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HP Simplified Light" panose="020B0404020204020204" pitchFamily="34" charset="0"/>
                      </a:endParaRPr>
                    </a:p>
                  </a:txBody>
                  <a:tcPr marL="100013" marR="0" marT="0" marB="0" anchor="b"/>
                </a:tc>
                <a:extLst>
                  <a:ext uri="{0D108BD9-81ED-4DB2-BD59-A6C34878D82A}">
                    <a16:rowId xmlns:a16="http://schemas.microsoft.com/office/drawing/2014/main" val="3229629249"/>
                  </a:ext>
                </a:extLst>
              </a:tr>
            </a:tbl>
          </a:graphicData>
        </a:graphic>
      </p:graphicFrame>
      <p:sp>
        <p:nvSpPr>
          <p:cNvPr id="64" name="Rectangle 63">
            <a:extLst>
              <a:ext uri="{FF2B5EF4-FFF2-40B4-BE49-F238E27FC236}">
                <a16:creationId xmlns:a16="http://schemas.microsoft.com/office/drawing/2014/main" id="{6520C6A9-5E8F-4855-8534-6A869C8FBBEC}"/>
              </a:ext>
            </a:extLst>
          </p:cNvPr>
          <p:cNvSpPr/>
          <p:nvPr/>
        </p:nvSpPr>
        <p:spPr>
          <a:xfrm>
            <a:off x="2223137" y="4507790"/>
            <a:ext cx="3900346" cy="1885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chemeClr val="tx1"/>
                </a:solidFill>
                <a:latin typeface="HP Simplified Light" panose="020B0404020204020204" pitchFamily="34" charset="0"/>
              </a:rPr>
              <a:t>FINANCE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7564490-7B7D-4318-8C5F-42B24432D5DF}"/>
              </a:ext>
            </a:extLst>
          </p:cNvPr>
          <p:cNvSpPr txBox="1"/>
          <p:nvPr/>
        </p:nvSpPr>
        <p:spPr>
          <a:xfrm>
            <a:off x="2223136" y="4719328"/>
            <a:ext cx="3900346" cy="2000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defTabSz="430213">
              <a:spcAft>
                <a:spcPts val="400"/>
              </a:spcAft>
              <a:buSzPct val="100000"/>
            </a:pPr>
            <a:r>
              <a:rPr lang="en-US" sz="700"/>
              <a:t>•Compliance, Risk and Feasibility Assessment; Engage Controllership; Business Case Support</a:t>
            </a:r>
            <a:endParaRPr lang="en-US" sz="700">
              <a:solidFill>
                <a:srgbClr val="000000"/>
              </a:solidFill>
              <a:latin typeface="HP Simplified" pitchFamily="34" charset="0"/>
              <a:cs typeface="HP Simplified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EF73742-8415-4FCD-A0FA-296D60CF825B}"/>
              </a:ext>
            </a:extLst>
          </p:cNvPr>
          <p:cNvSpPr/>
          <p:nvPr/>
        </p:nvSpPr>
        <p:spPr>
          <a:xfrm>
            <a:off x="6577948" y="1918803"/>
            <a:ext cx="1423034" cy="1885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chemeClr val="tx1"/>
                </a:solidFill>
                <a:latin typeface="HP Simplified Light" panose="020B0404020204020204" pitchFamily="34" charset="0"/>
              </a:rPr>
              <a:t>FINANCE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8E39486-09BC-48EB-B4D5-21AC9F090641}"/>
              </a:ext>
            </a:extLst>
          </p:cNvPr>
          <p:cNvSpPr txBox="1"/>
          <p:nvPr/>
        </p:nvSpPr>
        <p:spPr>
          <a:xfrm>
            <a:off x="6577948" y="2160410"/>
            <a:ext cx="1423034" cy="2000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defTabSz="430213">
              <a:spcAft>
                <a:spcPts val="400"/>
              </a:spcAft>
              <a:buSzPct val="100000"/>
            </a:pPr>
            <a:r>
              <a:rPr lang="en-US" sz="700"/>
              <a:t>•Post-Launch Support</a:t>
            </a:r>
            <a:endParaRPr lang="en-US" sz="700">
              <a:solidFill>
                <a:srgbClr val="000000"/>
              </a:solidFill>
              <a:latin typeface="HP Simplified" pitchFamily="34" charset="0"/>
              <a:cs typeface="HP Simplified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48ABEF7-488B-4C2D-9367-0DB7A2FE48D1}"/>
              </a:ext>
            </a:extLst>
          </p:cNvPr>
          <p:cNvSpPr/>
          <p:nvPr/>
        </p:nvSpPr>
        <p:spPr>
          <a:xfrm>
            <a:off x="3686174" y="3805138"/>
            <a:ext cx="1423034" cy="1885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chemeClr val="tx1"/>
                </a:solidFill>
                <a:latin typeface="HP Simplified Light" panose="020B0404020204020204" pitchFamily="34" charset="0"/>
              </a:rPr>
              <a:t>PORTFOLIO READINESS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356E54A-EFD9-4BC4-A694-52A6CD2CB11F}"/>
              </a:ext>
            </a:extLst>
          </p:cNvPr>
          <p:cNvSpPr txBox="1"/>
          <p:nvPr/>
        </p:nvSpPr>
        <p:spPr>
          <a:xfrm>
            <a:off x="3686174" y="4040176"/>
            <a:ext cx="1423034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defTabSz="430213">
              <a:spcAft>
                <a:spcPts val="400"/>
              </a:spcAft>
              <a:buSzPct val="100000"/>
            </a:pPr>
            <a:r>
              <a:rPr lang="en-US" sz="700"/>
              <a:t>•Define Service Enablement Strategy</a:t>
            </a:r>
            <a:endParaRPr lang="en-US" sz="700">
              <a:solidFill>
                <a:srgbClr val="000000"/>
              </a:solidFill>
              <a:latin typeface="HP Simplified" pitchFamily="34" charset="0"/>
              <a:cs typeface="HP Simplified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A024584-99B4-4940-B84F-AE51FA2ABCB1}"/>
              </a:ext>
            </a:extLst>
          </p:cNvPr>
          <p:cNvSpPr/>
          <p:nvPr/>
        </p:nvSpPr>
        <p:spPr>
          <a:xfrm>
            <a:off x="5126348" y="3759006"/>
            <a:ext cx="1420179" cy="1885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chemeClr val="tx1"/>
                </a:solidFill>
                <a:latin typeface="HP Simplified Light" panose="020B0404020204020204" pitchFamily="34" charset="0"/>
              </a:rPr>
              <a:t>PORTFOLIO READINESS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92FAAC4-1435-4084-A4C7-32ECC8BB77AB}"/>
              </a:ext>
            </a:extLst>
          </p:cNvPr>
          <p:cNvSpPr txBox="1"/>
          <p:nvPr/>
        </p:nvSpPr>
        <p:spPr>
          <a:xfrm>
            <a:off x="5126348" y="4011641"/>
            <a:ext cx="1420179" cy="2000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defTabSz="430213">
              <a:spcAft>
                <a:spcPts val="400"/>
              </a:spcAft>
              <a:buSzPct val="100000"/>
            </a:pPr>
            <a:r>
              <a:rPr lang="en-US" sz="700"/>
              <a:t>•SKU Creation</a:t>
            </a:r>
            <a:endParaRPr lang="en-US" sz="700">
              <a:solidFill>
                <a:srgbClr val="000000"/>
              </a:solidFill>
              <a:latin typeface="HP Simplified" pitchFamily="34" charset="0"/>
              <a:cs typeface="HP Simplified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C4136A0-0727-4306-B219-9FA4C8264A25}"/>
              </a:ext>
            </a:extLst>
          </p:cNvPr>
          <p:cNvSpPr/>
          <p:nvPr/>
        </p:nvSpPr>
        <p:spPr>
          <a:xfrm>
            <a:off x="6422455" y="451482"/>
            <a:ext cx="512447" cy="280035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LAUNCH</a:t>
            </a:r>
          </a:p>
        </p:txBody>
      </p:sp>
    </p:spTree>
    <p:extLst>
      <p:ext uri="{BB962C8B-B14F-4D97-AF65-F5344CB8AC3E}">
        <p14:creationId xmlns:p14="http://schemas.microsoft.com/office/powerpoint/2010/main" val="62280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F2mysPLSDQqaYC9iHBfT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KhlR8kOVMHT9DXDqIuF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ecunXTAOFURQAOI8i5j2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IUMPbFN7v_oUpD.PpOex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cbH5zkPZcINlQHk.rPrV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2_Blank">
  <a:themeElements>
    <a:clrScheme name="Custom 171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96D6"/>
      </a:accent1>
      <a:accent2>
        <a:srgbClr val="F05332"/>
      </a:accent2>
      <a:accent3>
        <a:srgbClr val="822980"/>
      </a:accent3>
      <a:accent4>
        <a:srgbClr val="87898B"/>
      </a:accent4>
      <a:accent5>
        <a:srgbClr val="B9B8BB"/>
      </a:accent5>
      <a:accent6>
        <a:srgbClr val="E5E8E8"/>
      </a:accent6>
      <a:hlink>
        <a:srgbClr val="0096D6"/>
      </a:hlink>
      <a:folHlink>
        <a:srgbClr val="0096D6"/>
      </a:folHlink>
    </a:clrScheme>
    <a:fontScheme name="HP Simplified">
      <a:majorFont>
        <a:latin typeface="HP Simplified"/>
        <a:ea typeface=""/>
        <a:cs typeface=""/>
      </a:majorFont>
      <a:minorFont>
        <a:latin typeface="HP Simplifi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marL="0" defTabSz="430213">
          <a:spcAft>
            <a:spcPts val="400"/>
          </a:spcAft>
          <a:buSzPct val="100000"/>
          <a:defRPr sz="1600" dirty="0" smtClean="0">
            <a:solidFill>
              <a:srgbClr val="000000"/>
            </a:solidFill>
            <a:latin typeface="HP Simplified" pitchFamily="34" charset="0"/>
            <a:cs typeface="HP Simplified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HP Theme colors">
      <a:dk1>
        <a:sysClr val="windowText" lastClr="000000"/>
      </a:dk1>
      <a:lt1>
        <a:sysClr val="window" lastClr="FFFFFF"/>
      </a:lt1>
      <a:dk2>
        <a:srgbClr val="000000"/>
      </a:dk2>
      <a:lt2>
        <a:srgbClr val="EEECE1"/>
      </a:lt2>
      <a:accent1>
        <a:srgbClr val="0096D6"/>
      </a:accent1>
      <a:accent2>
        <a:srgbClr val="F05332"/>
      </a:accent2>
      <a:accent3>
        <a:srgbClr val="B7CA34"/>
      </a:accent3>
      <a:accent4>
        <a:srgbClr val="87898B"/>
      </a:accent4>
      <a:accent5>
        <a:srgbClr val="B9B8BB"/>
      </a:accent5>
      <a:accent6>
        <a:srgbClr val="E5E8E8"/>
      </a:accent6>
      <a:hlink>
        <a:srgbClr val="0096D6"/>
      </a:hlink>
      <a:folHlink>
        <a:srgbClr val="0096D6"/>
      </a:folHlink>
    </a:clrScheme>
    <a:fontScheme name="HP Simplified">
      <a:majorFont>
        <a:latin typeface="HP Simplified"/>
        <a:ea typeface=""/>
        <a:cs typeface=""/>
      </a:majorFont>
      <a:minorFont>
        <a:latin typeface="HP Simplifi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379c448c-80c8-46d6-8025-240429ea6e8d">
      <UserInfo>
        <DisplayName>Conway, Ralph W</DisplayName>
        <AccountId>217</AccountId>
        <AccountType/>
      </UserInfo>
      <UserInfo>
        <DisplayName>Killeen, Megan</DisplayName>
        <AccountId>218</AccountId>
        <AccountType/>
      </UserInfo>
      <UserInfo>
        <DisplayName>Welch, Richard (Tony : Frosty)</DisplayName>
        <AccountId>105</AccountId>
        <AccountType/>
      </UserInfo>
      <UserInfo>
        <DisplayName>McCarthy, John (Product Management)</DisplayName>
        <AccountId>223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3994E8E01D434AB05A2186AC75725E" ma:contentTypeVersion="7" ma:contentTypeDescription="Create a new document." ma:contentTypeScope="" ma:versionID="70755aa852d574e843e0a971e7a6df24">
  <xsd:schema xmlns:xsd="http://www.w3.org/2001/XMLSchema" xmlns:xs="http://www.w3.org/2001/XMLSchema" xmlns:p="http://schemas.microsoft.com/office/2006/metadata/properties" xmlns:ns2="42e4b518-8d01-4d9f-bf2a-49da69927dde" xmlns:ns3="379c448c-80c8-46d6-8025-240429ea6e8d" targetNamespace="http://schemas.microsoft.com/office/2006/metadata/properties" ma:root="true" ma:fieldsID="e0d6e665b957ed4d1be9c02786fb76ad" ns2:_="" ns3:_="">
    <xsd:import namespace="42e4b518-8d01-4d9f-bf2a-49da69927dde"/>
    <xsd:import namespace="379c448c-80c8-46d6-8025-240429ea6e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e4b518-8d01-4d9f-bf2a-49da69927d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9c448c-80c8-46d6-8025-240429ea6e8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3A4D26-B076-46AB-95A1-3CFF30880B8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2C1600A-B688-43D2-999D-8F055F727646}">
  <ds:schemaRefs>
    <ds:schemaRef ds:uri="379c448c-80c8-46d6-8025-240429ea6e8d"/>
    <ds:schemaRef ds:uri="42e4b518-8d01-4d9f-bf2a-49da69927dd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B150C53-1F8B-4CB8-9C3D-545DE5AF761F}">
  <ds:schemaRefs>
    <ds:schemaRef ds:uri="379c448c-80c8-46d6-8025-240429ea6e8d"/>
    <ds:schemaRef ds:uri="42e4b518-8d01-4d9f-bf2a-49da69927dd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252</TotalTime>
  <Words>1121</Words>
  <Application>Microsoft Office PowerPoint</Application>
  <PresentationFormat>On-screen Show (16:9)</PresentationFormat>
  <Paragraphs>314</Paragraphs>
  <Slides>5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Futura Bk</vt:lpstr>
      <vt:lpstr>HP Simplified</vt:lpstr>
      <vt:lpstr>HP Simplified Light</vt:lpstr>
      <vt:lpstr>Lucida Grande</vt:lpstr>
      <vt:lpstr>22_Blank</vt:lpstr>
      <vt:lpstr>think-cell Slide</vt:lpstr>
      <vt:lpstr>E2E Product Management Process High-Level Mapping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 Aligned PLC</dc:title>
  <dc:creator>williamsdp.57@gmail.com</dc:creator>
  <cp:lastModifiedBy>Dale Johnson</cp:lastModifiedBy>
  <cp:revision>1</cp:revision>
  <cp:lastPrinted>2014-09-18T16:55:00Z</cp:lastPrinted>
  <dcterms:created xsi:type="dcterms:W3CDTF">2012-12-05T13:56:01Z</dcterms:created>
  <dcterms:modified xsi:type="dcterms:W3CDTF">2025-10-16T18:17:12Z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0x010100793994E8E01D434AB05A2186AC75725E</vt:lpwstr>
  </property>
</Properties>
</file>